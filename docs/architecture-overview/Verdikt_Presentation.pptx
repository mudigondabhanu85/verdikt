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76" r:id="rId27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7" r:id="rId28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D28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400" b="1">
                <a:solidFill>
                  <a:srgbClr val="FFFFFF"/>
                </a:solidFill>
              </a:defRPr>
            </a:pPr>
            <a:r>
              <a:t>Verdikt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2900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3EEFB"/>
                </a:solidFill>
              </a:defRPr>
            </a:pPr>
            <a:r>
              <a:t>AI Multi-Agent Web Application &amp; API Security Testing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FFFFFF"/>
                </a:solidFill>
              </a:defRPr>
            </a:pPr>
            <a:r>
              <a:t>Manual-assessment-quality penetration testing, at automated speed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C1E21"/>
                </a:solidFill>
                <a:latin typeface="Calibri"/>
              </a:defRPr>
            </a:pPr>
            <a:r>
              <a:t>What we'll cover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115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The problem: why manual pentesting doesn't scale, and why traditional DAST isn't trusted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Design principles: multi-agent architecture, Confirmed-Only Findings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System architecture &amp; the 24-node scanning engine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Confirmed-Only Findings pipeline — how false positives are engineered out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Pluggable AI provider layer — bring your own LLM, including in-house/internal models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Vulnerability coverage, attack chains, and reporting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VGS integration, enterprise hardening, and deployment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By the numbers, and an honest look at spec vs. reality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Testing discipline &amp; what's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C1E21"/>
                </a:solidFill>
                <a:latin typeface="Calibri"/>
              </a:defRPr>
            </a:pPr>
            <a:r>
              <a:t>Manual pentesting doesn't scale.</a:t>
            </a:r>
            <a:br/>
            <a:r>
              <a:t>Automated scanning isn't trusted.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  <a:defRPr sz="1900" b="0">
                <a:solidFill>
                  <a:srgbClr val="1C1E21"/>
                </a:solidFill>
              </a:defRPr>
            </a:pPr>
            <a:r>
              <a:t>•  A competent manual pentester takes days per application — demand for testing far outpaces supply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900" b="0">
                <a:solidFill>
                  <a:srgbClr val="1C1E21"/>
                </a:solidFill>
              </a:defRPr>
            </a:pPr>
            <a:r>
              <a:t>•  Traditional DAST scanners scale, but are notorious for high false-positive rates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900" b="0">
                <a:solidFill>
                  <a:srgbClr val="1C1E21"/>
                </a:solidFill>
              </a:defRPr>
            </a:pPr>
            <a:r>
              <a:t>•  Shallow coverage of business logic and access-control issues — the findings that matter most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900" b="0">
                <a:solidFill>
                  <a:srgbClr val="1C1E21"/>
                </a:solidFill>
              </a:defRPr>
            </a:pPr>
            <a:r>
              <a:t>•  Reports nobody can act on without re-verifying every line by hand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206240"/>
            <a:ext cx="10881360" cy="14630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600" b="1">
                <a:solidFill>
                  <a:srgbClr val="1C1E21"/>
                </a:solidFill>
              </a:defRPr>
            </a:pPr>
            <a:r>
              <a:t>Goal: scan a mid-size app (50–150 endpoints, one auth role, one workflow) and produce a report with ZERO false positives and manual-assessment-equivalent depth, in under a day, for under $20 of LLM spend.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DESIGN PRINCIPLES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C1E21"/>
                </a:solidFill>
                <a:latin typeface="Calibri"/>
              </a:defRPr>
            </a:pPr>
            <a:r>
              <a:t>Three ideas the whole system follows from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3611880" cy="640080"/>
          </a:xfrm>
          <a:prstGeom prst="roundRect">
            <a:avLst/>
          </a:prstGeom>
          <a:solidFill>
            <a:srgbClr val="6D28D9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1. Multi-Agent, Not One Big Prompt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3611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C1E21"/>
                </a:solidFill>
              </a:defRPr>
            </a:pPr>
            <a:r>
              <a:t>24 narrow, purpose-built detection agents each own one vulnerability class, run as parallel nodes in a LangGraph DAG, and use the cheapest technique that reliably confirms that class.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79" y="1737360"/>
            <a:ext cx="3611880" cy="640080"/>
          </a:xfrm>
          <a:prstGeom prst="roundRect">
            <a:avLst/>
          </a:prstGeom>
          <a:solidFill>
            <a:srgbClr val="6D28D9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2. Confirmed-Only 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2514600"/>
            <a:ext cx="3611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C1E21"/>
                </a:solidFill>
              </a:defRPr>
            </a:pPr>
            <a:r>
              <a:t>Nothing becomes a Finding on a hunch. Deterministic probe → LLM triage → deterministic re-execution → adversarial validation, or it becomes a human-reviewed candidate.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8" y="1737360"/>
            <a:ext cx="3611880" cy="640080"/>
          </a:xfrm>
          <a:prstGeom prst="roundRect">
            <a:avLst/>
          </a:prstGeom>
          <a:solidFill>
            <a:srgbClr val="6D28D9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3. Smart Scan (partial)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8" y="2514600"/>
            <a:ext cx="3611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C1E21"/>
                </a:solidFill>
              </a:defRPr>
            </a:pPr>
            <a:r>
              <a:t>A deterministic tech-stack fingerprint is computed and shown in every report — but today it gates only one check (SSTI). Broader cost-saving routing is a known next step, not shipped.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C1E21"/>
                </a:solidFill>
                <a:latin typeface="Calibri"/>
              </a:defRPr>
            </a:pPr>
            <a:r>
              <a:t>System Architecture</a:t>
            </a:r>
          </a:p>
        </p:txBody>
      </p:sp>
      <p:pic>
        <p:nvPicPr>
          <p:cNvPr id="5" name="Picture 4" descr="01_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13600565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722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5B6270"/>
                </a:solidFill>
              </a:defRPr>
            </a:pPr>
            <a:r>
              <a:t>React/TypeScript frontend, FastAPI backend, pluggable AI/storage/KMS layers, and a wide enterprise-integration surface.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MULTI-AGENT SCANNING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C1E21"/>
                </a:solidFill>
                <a:latin typeface="Calibri"/>
              </a:defRPr>
            </a:pPr>
            <a:r>
              <a:t>27 detection agents in the scan graph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3657600" cy="12344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1400" b="1">
                <a:solidFill>
                  <a:srgbClr val="6D28D9"/>
                </a:solidFill>
              </a:defRPr>
            </a:pPr>
            <a:r>
              <a:t>Injection</a:t>
            </a:r>
          </a:p>
          <a:p>
            <a:pPr algn="l">
              <a:defRPr sz="1100">
                <a:solidFill>
                  <a:srgbClr val="1C1E21"/>
                </a:solidFill>
              </a:defRPr>
            </a:pPr>
            <a:r>
              <a:t>SQLi, OS command injection, SSTI, path traversal, NoSQLi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554480"/>
            <a:ext cx="3657600" cy="12344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1400" b="1">
                <a:solidFill>
                  <a:srgbClr val="6D28D9"/>
                </a:solidFill>
              </a:defRPr>
            </a:pPr>
            <a:r>
              <a:t>XSS</a:t>
            </a:r>
          </a:p>
          <a:p>
            <a:pPr algn="l">
              <a:defRPr sz="1100">
                <a:solidFill>
                  <a:srgbClr val="1C1E21"/>
                </a:solidFill>
              </a:defRPr>
            </a:pPr>
            <a:r>
              <a:t>Reflected, DOM-based, stored — with real browser execution proof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1554480"/>
            <a:ext cx="3657600" cy="12344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1400" b="1">
                <a:solidFill>
                  <a:srgbClr val="6D28D9"/>
                </a:solidFill>
              </a:defRPr>
            </a:pPr>
            <a:r>
              <a:t>Access &amp; Auth</a:t>
            </a:r>
          </a:p>
          <a:p>
            <a:pPr algn="l">
              <a:defRPr sz="1100">
                <a:solidFill>
                  <a:srgbClr val="1C1E21"/>
                </a:solidFill>
              </a:defRPr>
            </a:pPr>
            <a:r>
              <a:t>Access control, auth bypass, OAuth redirect validation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898648"/>
            <a:ext cx="3657600" cy="12344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1400" b="1">
                <a:solidFill>
                  <a:srgbClr val="6D28D9"/>
                </a:solidFill>
              </a:defRPr>
            </a:pPr>
            <a:r>
              <a:t>Business Logic</a:t>
            </a:r>
          </a:p>
          <a:p>
            <a:pPr algn="l">
              <a:defRPr sz="1100">
                <a:solidFill>
                  <a:srgbClr val="1C1E21"/>
                </a:solidFill>
              </a:defRPr>
            </a:pPr>
            <a:r>
              <a:t>IDOR, race conditions, workflow bypass, mass assignment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2898648"/>
            <a:ext cx="3657600" cy="12344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1400" b="1">
                <a:solidFill>
                  <a:srgbClr val="6D28D9"/>
                </a:solidFill>
              </a:defRPr>
            </a:pPr>
            <a:r>
              <a:t>Request Integrity</a:t>
            </a:r>
          </a:p>
          <a:p>
            <a:pPr algn="l">
              <a:defRPr sz="1100">
                <a:solidFill>
                  <a:srgbClr val="1C1E21"/>
                </a:solidFill>
              </a:defRPr>
            </a:pPr>
            <a:r>
              <a:t>CSRF, CORS, host header, request smuggling, cache poisoning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2898648"/>
            <a:ext cx="3657600" cy="12344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1400" b="1">
                <a:solidFill>
                  <a:srgbClr val="6D28D9"/>
                </a:solidFill>
              </a:defRPr>
            </a:pPr>
            <a:r>
              <a:t>Client &amp; Framework</a:t>
            </a:r>
          </a:p>
          <a:p>
            <a:pPr algn="l">
              <a:defRPr sz="1100">
                <a:solidFill>
                  <a:srgbClr val="1C1E21"/>
                </a:solidFill>
              </a:defRPr>
            </a:pPr>
            <a:r>
              <a:t>Clickjacking, prototype pollution, GraphQL, WebSocket security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242816"/>
            <a:ext cx="3657600" cy="12344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1400" b="1">
                <a:solidFill>
                  <a:srgbClr val="6D28D9"/>
                </a:solidFill>
              </a:defRPr>
            </a:pPr>
            <a:r>
              <a:t>Data Handling</a:t>
            </a:r>
          </a:p>
          <a:p>
            <a:pPr algn="l">
              <a:defRPr sz="1100">
                <a:solidFill>
                  <a:srgbClr val="1C1E21"/>
                </a:solidFill>
              </a:defRPr>
            </a:pPr>
            <a:r>
              <a:t>XXE, insecure deserialization, file upload incl. polyglot bypass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4242816"/>
            <a:ext cx="3657600" cy="12344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1400" b="1">
                <a:solidFill>
                  <a:srgbClr val="6D28D9"/>
                </a:solidFill>
              </a:defRPr>
            </a:pPr>
            <a:r>
              <a:t>Network</a:t>
            </a:r>
          </a:p>
          <a:p>
            <a:pPr algn="l">
              <a:defRPr sz="1100">
                <a:solidFill>
                  <a:srgbClr val="1C1E21"/>
                </a:solidFill>
              </a:defRPr>
            </a:pPr>
            <a:r>
              <a:t>SSRF with real out-of-band callback proof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4242816"/>
            <a:ext cx="3657600" cy="12344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defRPr sz="1400" b="1">
                <a:solidFill>
                  <a:srgbClr val="6D28D9"/>
                </a:solidFill>
              </a:defRPr>
            </a:pPr>
            <a:r>
              <a:t>Config &amp; Disclosure</a:t>
            </a:r>
          </a:p>
          <a:p>
            <a:pPr algn="l">
              <a:defRPr sz="1100">
                <a:solidFill>
                  <a:srgbClr val="1C1E21"/>
                </a:solidFill>
              </a:defRPr>
            </a:pPr>
            <a:r>
              <a:t>Security headers, HSTS, cookie flags, version disclosure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MULTI-AGENT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C1E21"/>
                </a:solidFill>
                <a:latin typeface="Calibri"/>
              </a:defRPr>
            </a:pPr>
            <a:r>
              <a:t>Scan Lifecycle</a:t>
            </a:r>
          </a:p>
        </p:txBody>
      </p:sp>
      <p:pic>
        <p:nvPicPr>
          <p:cNvPr id="5" name="Picture 4" descr="03_scan_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4929768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722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5B6270"/>
                </a:solidFill>
              </a:defRPr>
            </a:pPr>
            <a:r>
              <a:t>The real, verified 24-node graph — zero conditional edges, every node always runs. chain_analysis is a 25th step that runs after the graph completes.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QUALITY BAR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C1E21"/>
                </a:solidFill>
                <a:latin typeface="Calibri"/>
              </a:defRPr>
            </a:pPr>
            <a:r>
              <a:t>Confirmed-Only Findings</a:t>
            </a:r>
          </a:p>
        </p:txBody>
      </p:sp>
      <p:pic>
        <p:nvPicPr>
          <p:cNvPr id="5" name="Picture 4" descr="04_confirmed_only_find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19081390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722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5B6270"/>
                </a:solidFill>
              </a:defRPr>
            </a:pPr>
            <a:r>
              <a:t>A candidate must survive deterministic re-execution and adversarial LLM validation before it becomes a Finding — or it becomes a human-reviewed candidate.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AI PROVIDER ABSTRACTION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C1E21"/>
                </a:solidFill>
                <a:latin typeface="Calibri"/>
              </a:defRPr>
            </a:pPr>
            <a:r>
              <a:t>Bring Your Own LLM</a:t>
            </a:r>
          </a:p>
        </p:txBody>
      </p:sp>
      <p:pic>
        <p:nvPicPr>
          <p:cNvPr id="5" name="Picture 4" descr="05_ai_provider_res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2848048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722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5B6270"/>
                </a:solidFill>
              </a:defRPr>
            </a:pPr>
            <a:r>
              <a:t>Claude, OpenAI, Gemini, Grok, or any in-house OpenAI-compatible model — configured once in the UI. A $2.00/scan hard cost cap is enforced underneath.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C1E21"/>
                </a:solidFill>
                <a:latin typeface="Calibri"/>
              </a:defRPr>
            </a:pPr>
            <a:r>
              <a:t>OWASP Top 10 (2025) + PortSwigger Web Security 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11535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Injection — SQL, OS command, SSTI, NoSQL, path traversal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Broken access control — IDOR, privilege escalation, missing function-level checks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Cryptographic &amp; session failures — token entropy, cookie attribute hygiene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Cross-site scripting — reflected / DOM / stored, real browser execution proof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Security misconfiguration — headers, plaintext HTTP, version disclosure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SSRF — real out-of-band callback verified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Authentication failures — auth bypass, OAuth redirect-URI validation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Software &amp; data integrity — insecure deserialization, prototype pollution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XXE, GraphQL introspection/DoS surface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File upload — dangerous extensions + image-polyglot bypass technique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CSRF, CORS, clickjacking — with real browser-confirmed framability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HTTP request smuggling &amp; cache poisoning/deception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 b="0">
                <a:solidFill>
                  <a:srgbClr val="1C1E21"/>
                </a:solidFill>
              </a:defRPr>
            </a:pPr>
            <a:r>
              <a:t>•  WebSocket security, business logic (race conditions, workflow, mass assignment)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BEYOND SINGLE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C1E21"/>
                </a:solidFill>
                <a:latin typeface="Calibri"/>
              </a:defRPr>
            </a:pPr>
            <a:r>
              <a:t>Attack chains, retest &amp; rescan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1153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  <a:defRPr sz="1700" b="0">
                <a:solidFill>
                  <a:srgbClr val="1C1E21"/>
                </a:solidFill>
              </a:defRPr>
            </a:pPr>
            <a:r>
              <a:t>•  Attack Chain Analysis</a:t>
            </a:r>
          </a:p>
          <a:p>
            <a:pPr>
              <a:lnSpc>
                <a:spcPct val="125000"/>
              </a:lnSpc>
              <a:spcAft>
                <a:spcPts val="400"/>
              </a:spcAft>
              <a:defRPr sz="1400" b="0">
                <a:solidFill>
                  <a:srgbClr val="5B6270"/>
                </a:solidFill>
              </a:defRPr>
            </a:pPr>
            <a:r>
              <a:t>‣  Runs after every other agent completes, looking for standalone findings that compose into a more severe, realistic attack path (e.g. reflected XSS + missing CSRF token → account takeover)</a:t>
            </a:r>
          </a:p>
          <a:p>
            <a:pPr>
              <a:lnSpc>
                <a:spcPct val="125000"/>
              </a:lnSpc>
              <a:spcAft>
                <a:spcPts val="400"/>
              </a:spcAft>
              <a:defRPr sz="1400" b="0">
                <a:solidFill>
                  <a:srgbClr val="5B6270"/>
                </a:solidFill>
              </a:defRPr>
            </a:pPr>
            <a:r>
              <a:t>‣  Goes through the same adversarial-validation discipline as individual findings — no rubber-stamping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700" b="0">
                <a:solidFill>
                  <a:srgbClr val="1C1E21"/>
                </a:solidFill>
              </a:defRPr>
            </a:pPr>
            <a:r>
              <a:t>•  Rescan</a:t>
            </a:r>
          </a:p>
          <a:p>
            <a:pPr>
              <a:lnSpc>
                <a:spcPct val="125000"/>
              </a:lnSpc>
              <a:spcAft>
                <a:spcPts val="400"/>
              </a:spcAft>
              <a:defRPr sz="1400" b="0">
                <a:solidFill>
                  <a:srgbClr val="5B6270"/>
                </a:solidFill>
              </a:defRPr>
            </a:pPr>
            <a:r>
              <a:t>‣  Full re-run, diffed against the prior scan: new findings, still_open, and fixed — human decisions like risk_accepted are never silently overridden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700" b="0">
                <a:solidFill>
                  <a:srgbClr val="1C1E21"/>
                </a:solidFill>
              </a:defRPr>
            </a:pPr>
            <a:r>
              <a:t>•  Retest</a:t>
            </a:r>
          </a:p>
          <a:p>
            <a:pPr>
              <a:lnSpc>
                <a:spcPct val="125000"/>
              </a:lnSpc>
              <a:spcAft>
                <a:spcPts val="400"/>
              </a:spcAft>
              <a:defRPr sz="1400" b="0">
                <a:solidFill>
                  <a:srgbClr val="5B6270"/>
                </a:solidFill>
              </a:defRPr>
            </a:pPr>
            <a:r>
              <a:t>‣  Targeted, single-finding re-verification — "we just deployed a fix, did it work" — without paying for a full scan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REPORTING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C1E21"/>
                </a:solidFill>
                <a:latin typeface="Calibri"/>
              </a:defRPr>
            </a:pPr>
            <a:r>
              <a:t>One dataset, every audience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1153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HTML, PDF, DOCX, CSV, and JSON exports — all generated from the same underlying Finding records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Finding grouping — shared check types collapse into one section with full evidence for a representative sample, preventing runaway report length (one real scan: 291 findings, not 629 pages)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LLM-generated executive summary for non-technical stakeholders — generated once, cached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Org branding — logo and primary color on every generated report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A native, ported VGS report-builder workflow for teams that want manual curation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VGS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C1E21"/>
                </a:solidFill>
                <a:latin typeface="Calibri"/>
              </a:defRPr>
            </a:pPr>
            <a:r>
              <a:t>Three complementary modes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3576218" cy="42062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300" b="0">
                <a:solidFill>
                  <a:srgbClr val="1C1E21"/>
                </a:solidFill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4307738" y="1600200"/>
            <a:ext cx="3576218" cy="42062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300" b="0">
                <a:solidFill>
                  <a:srgbClr val="1C1E21"/>
                </a:solidFill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3119018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6D28D9"/>
                </a:solidFill>
              </a:defRPr>
            </a:pPr>
            <a:r>
              <a:t>Decoupled Webhook Push</a:t>
            </a:r>
          </a:p>
          <a:p>
            <a:pPr>
              <a:spcAft>
                <a:spcPts val="800"/>
              </a:spcAft>
              <a:defRPr sz="1300"/>
            </a:pPr>
            <a:r>
              <a:t>•  On scan completion, Verdikt POSTs findings to VGS's ingestion webhook</a:t>
            </a:r>
          </a:p>
          <a:p>
            <a:pPr>
              <a:spcAft>
                <a:spcPts val="800"/>
              </a:spcAft>
              <a:defRPr sz="1300"/>
            </a:pPr>
            <a:r>
              <a:t>•  Tagged source: ai-multi-agent</a:t>
            </a:r>
          </a:p>
          <a:p>
            <a:pPr>
              <a:spcAft>
                <a:spcPts val="800"/>
              </a:spcAft>
              <a:defRPr sz="1300"/>
            </a:pPr>
            <a:r>
              <a:t>•  VGS stays system of record for governance/remediation</a:t>
            </a:r>
          </a:p>
          <a:p>
            <a:pPr>
              <a:spcAft>
                <a:spcPts val="800"/>
              </a:spcAft>
              <a:defRPr sz="1300"/>
            </a:pPr>
            <a:r>
              <a:t>•  Best-effort: a broken webhook never fails the scan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338" y="1783080"/>
            <a:ext cx="3119018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6D28D9"/>
                </a:solidFill>
              </a:defRPr>
            </a:pPr>
            <a:r>
              <a:t>Native Report-Builder</a:t>
            </a:r>
          </a:p>
          <a:p>
            <a:pPr>
              <a:spcAft>
                <a:spcPts val="800"/>
              </a:spcAft>
              <a:defRPr sz="1300"/>
            </a:pPr>
            <a:r>
              <a:t>•  VGS's manual workflow, ported into Verdikt as its own workspace</a:t>
            </a:r>
          </a:p>
          <a:p>
            <a:pPr>
              <a:spcAft>
                <a:spcPts val="800"/>
              </a:spcAft>
              <a:defRPr sz="1300"/>
            </a:pPr>
            <a:r>
              <a:t>•  Vulnerability Picker: confirmed findings, auto-seeded and tracked</a:t>
            </a:r>
          </a:p>
          <a:p>
            <a:pPr>
              <a:spcAft>
                <a:spcPts val="800"/>
              </a:spcAft>
              <a:defRPr sz="1300"/>
            </a:pPr>
            <a:r>
              <a:t>•  Delete or edit severity; "Load from PortSwigger" one-click pull</a:t>
            </a:r>
          </a:p>
          <a:p>
            <a:pPr>
              <a:spcAft>
                <a:spcPts val="800"/>
              </a:spcAft>
              <a:defRPr sz="1300"/>
            </a:pPr>
            <a:r>
              <a:t>•  Generate Report: same DOCX shape as the original VGS tool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66836" y="1600200"/>
            <a:ext cx="3576218" cy="420624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300" b="0">
                <a:solidFill>
                  <a:srgbClr val="1C1E21"/>
                </a:solidFill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295436" y="1783080"/>
            <a:ext cx="3119018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800">
                <a:solidFill>
                  <a:srgbClr val="6D28D9"/>
                </a:solidFill>
              </a:defRPr>
            </a:pPr>
            <a:r>
              <a:t>Per-Scan-Run Export</a:t>
            </a:r>
          </a:p>
          <a:p>
            <a:pPr>
              <a:spcAft>
                <a:spcPts val="800"/>
              </a:spcAft>
              <a:defRPr sz="1300"/>
            </a:pPr>
            <a:r>
              <a:t>•  One-click report.vgs.docx export scoped to a single scan run</a:t>
            </a:r>
          </a:p>
          <a:p>
            <a:pPr>
              <a:spcAft>
                <a:spcPts val="800"/>
              </a:spcAft>
              <a:defRPr sz="1300"/>
            </a:pPr>
            <a:r>
              <a:t>•  Transient — not persisted or tracked like the workspace mode</a:t>
            </a:r>
          </a:p>
          <a:p>
            <a:pPr>
              <a:spcAft>
                <a:spcPts val="800"/>
              </a:spcAft>
              <a:defRPr sz="1300"/>
            </a:pPr>
            <a:r>
              <a:t>•  For a quick handoff when a full workspace isn't needed</a:t>
            </a:r>
          </a:p>
          <a:p>
            <a:pPr>
              <a:spcAft>
                <a:spcPts val="800"/>
              </a:spcAft>
              <a:defRPr sz="1300"/>
            </a:pPr>
            <a:r>
              <a:t>•  Same VGS-shaped DOCX output as the other two modes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ENTERPRISE HARDENING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C1E21"/>
                </a:solidFill>
                <a:latin typeface="Calibri"/>
              </a:defRPr>
            </a:pPr>
            <a:r>
              <a:t>Built for real organizations, not just demos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  <a:defRPr sz="1600" b="0">
                <a:solidFill>
                  <a:srgbClr val="1C1E21"/>
                </a:solidFill>
              </a:defRPr>
            </a:pPr>
            <a:r>
              <a:t>•  RBAC — real DB-backed role_permissions table across 19 resource types; new roles are data changes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600" b="0">
                <a:solidFill>
                  <a:srgbClr val="1C1E21"/>
                </a:solidFill>
              </a:defRPr>
            </a:pPr>
            <a:r>
              <a:t>•  SSO — SAML and OIDC, per-org, with configurable default role assignment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600" b="0">
                <a:solidFill>
                  <a:srgbClr val="1C1E21"/>
                </a:solidFill>
              </a:defRPr>
            </a:pPr>
            <a:r>
              <a:t>•  Ticketing &amp; notifications — Jira, Slack, Microsoft Teams, Outlook, plus a conversational Teams bot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600" b="0">
                <a:solidFill>
                  <a:srgbClr val="1C1E21"/>
                </a:solidFill>
              </a:defRPr>
            </a:pPr>
            <a:r>
              <a:t>•  CMDB integration — generic, configurable REST client for any vendor's asset inventory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600" b="0">
                <a:solidFill>
                  <a:srgbClr val="1C1E21"/>
                </a:solidFill>
              </a:defRPr>
            </a:pPr>
            <a:r>
              <a:t>•  API keys — long-lived, revocable tokens for CI/automation clients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600" b="0">
                <a:solidFill>
                  <a:srgbClr val="1C1E21"/>
                </a:solidFill>
              </a:defRPr>
            </a:pPr>
            <a:r>
              <a:t>•  Audit log — every state-changing action recorded with actor, action, resource, metadata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600" b="0">
                <a:solidFill>
                  <a:srgbClr val="1C1E21"/>
                </a:solidFill>
              </a:defRPr>
            </a:pPr>
            <a:r>
              <a:t>•  Cost governor — a per-scan-run cap on estimated LLM spend, enforced automatically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CROSS-PLATFORM, ONE COMMAND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C1E21"/>
                </a:solidFill>
                <a:latin typeface="Calibri"/>
              </a:defRPr>
            </a:pPr>
            <a:r>
              <a:t>Deployment</a:t>
            </a:r>
          </a:p>
        </p:txBody>
      </p:sp>
      <p:pic>
        <p:nvPicPr>
          <p:cNvPr id="5" name="Picture 4" descr="06_deployment_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12533854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722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5B6270"/>
                </a:solidFill>
              </a:defRPr>
            </a:pPr>
            <a:r>
              <a:t>docker compose up — verified end-to-end on a fresh environment; migrations run automatically; works identically on macOS, Linux, and Windows.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BY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C1E21"/>
                </a:solidFill>
                <a:latin typeface="Calibri"/>
              </a:defRPr>
            </a:pPr>
            <a:r>
              <a:t>The codebase, counted — not estimated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737360"/>
            <a:ext cx="2651760" cy="155448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3400" b="1">
                <a:solidFill>
                  <a:srgbClr val="6D28D9"/>
                </a:solidFill>
              </a:defRPr>
            </a:pPr>
            <a:r>
              <a:t>48</a:t>
            </a:r>
          </a:p>
          <a:p>
            <a:pPr algn="ctr">
              <a:defRPr sz="1200">
                <a:solidFill>
                  <a:srgbClr val="1C1E21"/>
                </a:solidFill>
              </a:defRPr>
            </a:pPr>
            <a:r>
              <a:t>agent files</a:t>
            </a:r>
            <a:br/>
            <a:r>
              <a:t>(27 wired into the scan graph)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46120" y="1737360"/>
            <a:ext cx="2651760" cy="155448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3400" b="1">
                <a:solidFill>
                  <a:srgbClr val="6D28D9"/>
                </a:solidFill>
              </a:defRPr>
            </a:pPr>
            <a:r>
              <a:t>30</a:t>
            </a:r>
          </a:p>
          <a:p>
            <a:pPr algn="ctr">
              <a:defRPr sz="1200">
                <a:solidFill>
                  <a:srgbClr val="1C1E21"/>
                </a:solidFill>
              </a:defRPr>
            </a:pPr>
            <a:r>
              <a:t>API route modules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737360"/>
            <a:ext cx="2651760" cy="155448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3400" b="1">
                <a:solidFill>
                  <a:srgbClr val="6D28D9"/>
                </a:solidFill>
              </a:defRPr>
            </a:pPr>
            <a:r>
              <a:t>~34</a:t>
            </a:r>
          </a:p>
          <a:p>
            <a:pPr algn="ctr">
              <a:defRPr sz="1200">
                <a:solidFill>
                  <a:srgbClr val="1C1E21"/>
                </a:solidFill>
              </a:defRPr>
            </a:pPr>
            <a:r>
              <a:t>persisted data models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23960" y="1737360"/>
            <a:ext cx="2651760" cy="155448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3400" b="1">
                <a:solidFill>
                  <a:srgbClr val="6D28D9"/>
                </a:solidFill>
              </a:defRPr>
            </a:pPr>
            <a:r>
              <a:t>9</a:t>
            </a:r>
          </a:p>
          <a:p>
            <a:pPr algn="ctr">
              <a:defRPr sz="1200">
                <a:solidFill>
                  <a:srgbClr val="1C1E21"/>
                </a:solidFill>
              </a:defRPr>
            </a:pPr>
            <a:r>
              <a:t>external integrations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474720"/>
            <a:ext cx="2651760" cy="155448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3400" b="1">
                <a:solidFill>
                  <a:srgbClr val="6D28D9"/>
                </a:solidFill>
              </a:defRPr>
            </a:pPr>
            <a:r>
              <a:t>36</a:t>
            </a:r>
          </a:p>
          <a:p>
            <a:pPr algn="ctr">
              <a:defRPr sz="1200">
                <a:solidFill>
                  <a:srgbClr val="1C1E21"/>
                </a:solidFill>
              </a:defRPr>
            </a:pPr>
            <a:r>
              <a:t>static check IDs</a:t>
            </a:r>
            <a:br/>
            <a:r>
              <a:t>across 14 YAML catalogs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3474720"/>
            <a:ext cx="2651760" cy="155448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3400" b="1">
                <a:solidFill>
                  <a:srgbClr val="6D28D9"/>
                </a:solidFill>
              </a:defRPr>
            </a:pPr>
            <a:r>
              <a:t>34</a:t>
            </a:r>
          </a:p>
          <a:p>
            <a:pPr algn="ctr">
              <a:defRPr sz="1200">
                <a:solidFill>
                  <a:srgbClr val="1C1E21"/>
                </a:solidFill>
              </a:defRPr>
            </a:pPr>
            <a:r>
              <a:t>Alembic migrations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3474720"/>
            <a:ext cx="2651760" cy="155448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3400" b="1">
                <a:solidFill>
                  <a:srgbClr val="6D28D9"/>
                </a:solidFill>
              </a:defRPr>
            </a:pPr>
            <a:r>
              <a:t>20×4</a:t>
            </a:r>
          </a:p>
          <a:p>
            <a:pPr algn="ctr">
              <a:defRPr sz="1200">
                <a:solidFill>
                  <a:srgbClr val="1C1E21"/>
                </a:solidFill>
              </a:defRPr>
            </a:pPr>
            <a:r>
              <a:t>RBAC resources × actions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3474720"/>
            <a:ext cx="2651760" cy="155448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E3E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3400" b="1">
                <a:solidFill>
                  <a:srgbClr val="6D28D9"/>
                </a:solidFill>
              </a:defRPr>
            </a:pPr>
            <a:r>
              <a:t>617</a:t>
            </a:r>
          </a:p>
          <a:p>
            <a:pPr algn="ctr">
              <a:defRPr sz="1200">
                <a:solidFill>
                  <a:srgbClr val="1C1E21"/>
                </a:solidFill>
              </a:defRPr>
            </a:pPr>
            <a:r>
              <a:t>tests across 111 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35040"/>
            <a:ext cx="1109441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i="1" sz="1200">
                <a:solidFill>
                  <a:srgbClr val="5B6270"/>
                </a:solidFill>
              </a:defRPr>
            </a:pPr>
            <a:r>
              <a:t>Verified by direct code inspection and by running the test collector — not estimated.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AN HONEST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C1E21"/>
                </a:solidFill>
                <a:latin typeface="Calibri"/>
              </a:defRPr>
            </a:pPr>
            <a:r>
              <a:t>Spec vs. reality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448056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300" b="0">
                <a:solidFill>
                  <a:srgbClr val="1C1E21"/>
                </a:solidFill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394960" cy="4480560"/>
          </a:xfrm>
          <a:prstGeom prst="roundRect">
            <a:avLst/>
          </a:prstGeom>
          <a:solidFill>
            <a:srgbClr val="F3EE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defRPr sz="1300" b="0">
                <a:solidFill>
                  <a:srgbClr val="1C1E21"/>
                </a:solidFill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6D28D9"/>
                </a:solidFill>
              </a:defRPr>
            </a:pPr>
            <a:r>
              <a:t>Built less than originally specified</a:t>
            </a:r>
          </a:p>
          <a:p>
            <a:pPr>
              <a:spcAft>
                <a:spcPts val="700"/>
              </a:spcAft>
              <a:defRPr sz="1300"/>
            </a:pPr>
            <a:r>
              <a:t>•  Pre-scan authorization gate — built, then fully removed</a:t>
            </a:r>
          </a:p>
          <a:p>
            <a:pPr>
              <a:spcAft>
                <a:spcPts val="700"/>
              </a:spcAft>
              <a:defRPr sz="1300"/>
            </a:pPr>
            <a:r>
              <a:t>•  Human-in-the-loop approval checkpoints — not built</a:t>
            </a:r>
          </a:p>
          <a:p>
            <a:pPr>
              <a:spcAft>
                <a:spcPts val="700"/>
              </a:spcAft>
              <a:defRPr sz="1300"/>
            </a:pPr>
            <a:r>
              <a:t>•  Smart Scan graph-level routing — only one narrow case (SSTI)</a:t>
            </a:r>
          </a:p>
          <a:p>
            <a:pPr>
              <a:spcAft>
                <a:spcPts val="700"/>
              </a:spcAft>
              <a:defRPr sz="1300"/>
            </a:pPr>
            <a:r>
              <a:t>•  Per-task-type model routing — built, then reverted (twice)</a:t>
            </a:r>
          </a:p>
          <a:p>
            <a:pPr>
              <a:spcAft>
                <a:spcPts val="700"/>
              </a:spcAft>
              <a:defRPr sz="1300"/>
            </a:pPr>
            <a:r>
              <a:t>•  Depth slider (Quick/Standard/Deep) — not built</a:t>
            </a:r>
          </a:p>
          <a:p>
            <a:pPr>
              <a:spcAft>
                <a:spcPts val="700"/>
              </a:spcAft>
              <a:defRPr sz="1300"/>
            </a:pPr>
            <a:r>
              <a:t>•  Cross-credential-set result caching — not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6D28D9"/>
                </a:solidFill>
              </a:defRPr>
            </a:pPr>
            <a:r>
              <a:t>Built beyond what was specified</a:t>
            </a:r>
          </a:p>
          <a:p>
            <a:pPr>
              <a:spcAft>
                <a:spcPts val="700"/>
              </a:spcAft>
              <a:defRPr sz="1300"/>
            </a:pPr>
            <a:r>
              <a:t>•  VGS integration — spec asked for webhook push only; shipped three modes (webhook, native workspace, per-scan-run export)</a:t>
            </a:r>
          </a:p>
          <a:p>
            <a:pPr>
              <a:spcAft>
                <a:spcPts val="700"/>
              </a:spcAft>
              <a:defRPr sz="1300"/>
            </a:pPr>
            <a:r>
              <a:t>•  Image-polyglot file-upload bypass technique</a:t>
            </a:r>
          </a:p>
          <a:p>
            <a:pPr>
              <a:spcAft>
                <a:spcPts val="700"/>
              </a:spcAft>
              <a:defRPr sz="1300"/>
            </a:pPr>
            <a:r>
              <a:t>•  "Load from PortSwigger" scraper integration</a:t>
            </a:r>
          </a:p>
          <a:p>
            <a:pPr>
              <a:spcAft>
                <a:spcPts val="700"/>
              </a:spcAft>
              <a:defRPr sz="1300"/>
            </a:pPr>
            <a:r>
              <a:t>•  UI-only, per-org default AI provider configuration</a:t>
            </a:r>
          </a:p>
          <a:p>
            <a:pPr>
              <a:spcAft>
                <a:spcPts val="700"/>
              </a:spcAft>
              <a:defRPr sz="1300"/>
            </a:pPr>
            <a:r>
              <a:t>•  A genuine conversational Microsoft Teams bot</a:t>
            </a:r>
          </a:p>
          <a:p>
            <a:pPr>
              <a:spcAft>
                <a:spcPts val="700"/>
              </a:spcAft>
              <a:defRPr sz="1300"/>
            </a:pPr>
            <a:r>
              <a:t>•  Two independent ways to record a login macro — in-browser VNC stream and a standalone browser extension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C1E21"/>
                </a:solidFill>
                <a:latin typeface="Calibri"/>
              </a:defRPr>
            </a:pPr>
            <a:r>
              <a:t>Testing discipline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617 tests across 111 files, confirmed via pytest --collect-only — real fixtures over mocks: local HTTP servers, a real headless browser, real cryptographic round-trips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Live-validated against OWASP Juice Shop and a real DVWA instance across all four security levels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DVWA "Impossible" correctly produces zero injection/XSS findings; "Medium" correctly yields confirmed SQLi and command injection through the full pipeline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Every bug fix in this system's history was root-caused against a real, running target — not inferred from a stack trace alone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C1E21"/>
                </a:solidFill>
                <a:latin typeface="Calibri"/>
              </a:defRPr>
            </a:pPr>
            <a:r>
              <a:t>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Build out Smart Scan's graph-level routing — use the fingerprint to actually skip irrelevant node scheduling, not just display it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A depth/intensity profile (Quick / Standard / Deep) as a scan-trigger option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Per-task-type model routing — tried and reverted once already; revisit only if a concrete case emerges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A more sophisticated file-upload bypass technique, chaining into a standalone RCE proof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800" b="0">
                <a:solidFill>
                  <a:srgbClr val="1C1E21"/>
                </a:solidFill>
              </a:defRPr>
            </a:pPr>
            <a:r>
              <a:t>•  Configurable human-in-the-loop approval checkpoints for the most invasive check categories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D28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F3EEFB"/>
                </a:solidFill>
              </a:defRPr>
            </a:pPr>
            <a:r>
              <a:t>Questions &amp; discussion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APP INFO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C1E21"/>
                </a:solidFill>
                <a:latin typeface="Calibri"/>
              </a:defRPr>
            </a:pPr>
            <a:r>
              <a:t>What it's built with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900"/>
              </a:spcAft>
              <a:defRPr sz="1600" b="0">
                <a:solidFill>
                  <a:srgbClr val="1C1E21"/>
                </a:solidFill>
              </a:defRPr>
            </a:pPr>
            <a:r>
              <a:t>•  Frontend — Vite + React + TypeScript + TanStack Query + React Router + Tailwind CSS</a:t>
            </a:r>
          </a:p>
          <a:p>
            <a:pPr>
              <a:lnSpc>
                <a:spcPct val="120000"/>
              </a:lnSpc>
              <a:spcAft>
                <a:spcPts val="900"/>
              </a:spcAft>
              <a:defRPr sz="1600" b="0">
                <a:solidFill>
                  <a:srgbClr val="1C1E21"/>
                </a:solidFill>
              </a:defRPr>
            </a:pPr>
            <a:r>
              <a:t>•  Backend — Python 3.11+, FastAPI, SQLAlchemy 2.0 (async), Alembic, served via uv</a:t>
            </a:r>
          </a:p>
          <a:p>
            <a:pPr>
              <a:lnSpc>
                <a:spcPct val="120000"/>
              </a:lnSpc>
              <a:spcAft>
                <a:spcPts val="900"/>
              </a:spcAft>
              <a:defRPr sz="1600" b="0">
                <a:solidFill>
                  <a:srgbClr val="1C1E21"/>
                </a:solidFill>
              </a:defRPr>
            </a:pPr>
            <a:r>
              <a:t>•  Database — PostgreSQL (dialect-agnostic ORM; test suite runs on ephemeral SQLite)</a:t>
            </a:r>
          </a:p>
          <a:p>
            <a:pPr>
              <a:lnSpc>
                <a:spcPct val="120000"/>
              </a:lnSpc>
              <a:spcAft>
                <a:spcPts val="900"/>
              </a:spcAft>
              <a:defRPr sz="1600" b="0">
                <a:solidFill>
                  <a:srgbClr val="1C1E21"/>
                </a:solidFill>
              </a:defRPr>
            </a:pPr>
            <a:r>
              <a:t>•  AI layer — LangGraph 27-node multi-agent scan DAG; pluggable Claude/OpenAI/Gemini/Grok/custom-endpoint providers</a:t>
            </a:r>
          </a:p>
          <a:p>
            <a:pPr>
              <a:lnSpc>
                <a:spcPct val="120000"/>
              </a:lnSpc>
              <a:spcAft>
                <a:spcPts val="900"/>
              </a:spcAft>
              <a:defRPr sz="1600" b="0">
                <a:solidFill>
                  <a:srgbClr val="1C1E21"/>
                </a:solidFill>
              </a:defRPr>
            </a:pPr>
            <a:r>
              <a:t>•  Browser automation — Playwright (Chromium) for real execution proofs and login-macro recording, streamed live via a Docker-hosted VNC stack</a:t>
            </a:r>
          </a:p>
          <a:p>
            <a:pPr>
              <a:lnSpc>
                <a:spcPct val="120000"/>
              </a:lnSpc>
              <a:spcAft>
                <a:spcPts val="900"/>
              </a:spcAft>
              <a:defRPr sz="1600" b="0">
                <a:solidFill>
                  <a:srgbClr val="1C1E21"/>
                </a:solidFill>
              </a:defRPr>
            </a:pPr>
            <a:r>
              <a:t>•  Deployment &amp; integrations — Docker Compose end to end; Jira/Slack/Teams/Outlook/Burp/CMDB/VGS/SSO integrations, plus a standalone browser extension for native setups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D28D9"/>
                </a:solidFill>
              </a:defRPr>
            </a:pPr>
            <a:r>
              <a:t>COMMON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C1E21"/>
                </a:solidFill>
                <a:latin typeface="Calibri"/>
              </a:defRPr>
            </a:pPr>
            <a:r>
              <a:t>FAQ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115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  <a:defRPr sz="1400" b="0">
                <a:solidFill>
                  <a:srgbClr val="1C1E21"/>
                </a:solidFill>
              </a:defRPr>
            </a:pPr>
            <a:r>
              <a:t>•  How does crawling work? — A Playwright-driven crawler discovers pages/forms/API calls within scope; uploaded traffic (HAR/Burp/Zest) supplements live crawling, it doesn't replace it.</a:t>
            </a:r>
          </a:p>
          <a:p>
            <a:pPr>
              <a:lnSpc>
                <a:spcPct val="115000"/>
              </a:lnSpc>
              <a:spcAft>
                <a:spcPts val="700"/>
              </a:spcAft>
              <a:defRPr sz="1400" b="0">
                <a:solidFill>
                  <a:srgbClr val="1C1E21"/>
                </a:solidFill>
              </a:defRPr>
            </a:pPr>
            <a:r>
              <a:t>•  How are vulnerabilities found, and what does AI actually do? — Deterministic HTTP-level probes run first; AI only triages results and helps craft context-aware payloads. AI never single-handedly confirms a finding.</a:t>
            </a:r>
          </a:p>
          <a:p>
            <a:pPr>
              <a:lnSpc>
                <a:spcPct val="115000"/>
              </a:lnSpc>
              <a:spcAft>
                <a:spcPts val="700"/>
              </a:spcAft>
              <a:defRPr sz="1400" b="0">
                <a:solidFill>
                  <a:srgbClr val="1C1E21"/>
                </a:solidFill>
              </a:defRPr>
            </a:pPr>
            <a:r>
              <a:t>•  How is this different from WebInspect or Checkmarx? — Those are single-pass deterministic scanners; Verdikt pairs the same deterministic probing with LLM-assisted triage and adversarial validation, so only confirmed findings reach a report.</a:t>
            </a:r>
          </a:p>
          <a:p>
            <a:pPr>
              <a:lnSpc>
                <a:spcPct val="115000"/>
              </a:lnSpc>
              <a:spcAft>
                <a:spcPts val="700"/>
              </a:spcAft>
              <a:defRPr sz="1400" b="0">
                <a:solidFill>
                  <a:srgbClr val="1C1E21"/>
                </a:solidFill>
              </a:defRPr>
            </a:pPr>
            <a:r>
              <a:t>•  If I upload traffic, does it still crawl the live site? — Yes — uploaded traffic and live crawling both run and combine into one scope.</a:t>
            </a:r>
          </a:p>
          <a:p>
            <a:pPr>
              <a:lnSpc>
                <a:spcPct val="115000"/>
              </a:lnSpc>
              <a:spcAft>
                <a:spcPts val="700"/>
              </a:spcAft>
              <a:defRPr sz="1400" b="0">
                <a:solidFill>
                  <a:srgbClr val="1C1E21"/>
                </a:solidFill>
              </a:defRPr>
            </a:pPr>
            <a:r>
              <a:t>•  What's the architecture, and why AI if scans are deterministic? — A 27-node LangGraph DAG per scan: deterministic probe → AI triage → deterministic re-execution → adversarial AI validation. AI expands and interprets; it never decides alone.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B6270"/>
                </a:solidFill>
              </a:defRPr>
            </a:pPr>
            <a: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270"/>
                </a:solidFill>
              </a:defRPr>
            </a:pPr>
            <a:r>
              <a:t>Verdikt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