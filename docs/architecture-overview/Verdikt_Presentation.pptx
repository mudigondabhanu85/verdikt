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6" r:id="rId27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8" r:id="rId29"/>
    <p:sldId id="270" r:id="rId21"/>
    <p:sldId id="271" r:id="rId22"/>
    <p:sldId id="272" r:id="rId23"/>
    <p:sldId id="273" r:id="rId24"/>
    <p:sldId id="274" r:id="rId25"/>
    <p:sldId id="277" r:id="rId28"/>
    <p:sldId id="279" r:id="rId30"/>
    <p:sldId id="280" r:id="rId31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3.xml"/><Relationship Id="rId27" Type="http://schemas.openxmlformats.org/officeDocument/2006/relationships/slide" Target="slides/slide6.xml"/><Relationship Id="rId28" Type="http://schemas.openxmlformats.org/officeDocument/2006/relationships/slide" Target="slides/slide22.xml"/><Relationship Id="rId29" Type="http://schemas.openxmlformats.org/officeDocument/2006/relationships/slide" Target="slides/slide16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</a:defRPr>
            </a:pPr>
            <a:r>
              <a:t>Verdikt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3EEFB"/>
                </a:solidFill>
              </a:defRPr>
            </a:pPr>
            <a:r>
              <a:t>AI Multi-Agent Web Application &amp; API Security Testing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Manual-assessment-quality penetration testing, at automated speed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E21"/>
                </a:solidFill>
                <a:latin typeface="Calibri"/>
              </a:defRPr>
            </a:pPr>
            <a: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The problem: why manual pentesting doesn't scale, and why traditional DAST isn't trusted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Design principles: multi-agent architecture, Confirmed-Only Findings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System architecture &amp; the 31-node scanning engine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Confirmed-Only Findings pipeline — how false positives are engineered out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Pluggable AI provider layer — bring your own LLM, including in-house/internal models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Vulnerability coverage, attack chains, and reporting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VGS integration, enterprise hardening, data handling &amp; security, and deployment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By the numbers, and an honest look at spec vs. reality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Testing discipline &amp;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E21"/>
                </a:solidFill>
                <a:latin typeface="Calibri"/>
              </a:defRPr>
            </a:pPr>
            <a:r>
              <a:t>Manual pentesting doesn't scale.</a:t>
            </a:r>
            <a:br/>
            <a:r>
              <a:t>Automated scanning isn't trusted.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900" b="0">
                <a:solidFill>
                  <a:srgbClr val="1C1E21"/>
                </a:solidFill>
              </a:defRPr>
            </a:pPr>
            <a:r>
              <a:t>•  A competent manual pentester takes days per application — demand for testing far outpaces supply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900" b="0">
                <a:solidFill>
                  <a:srgbClr val="1C1E21"/>
                </a:solidFill>
              </a:defRPr>
            </a:pPr>
            <a:r>
              <a:t>•  Traditional DAST scanners scale, but are notorious for high false-positive rates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900" b="0">
                <a:solidFill>
                  <a:srgbClr val="1C1E21"/>
                </a:solidFill>
              </a:defRPr>
            </a:pPr>
            <a:r>
              <a:t>•  Shallow coverage of business logic and access-control issues — the findings that matter most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900" b="0">
                <a:solidFill>
                  <a:srgbClr val="1C1E21"/>
                </a:solidFill>
              </a:defRPr>
            </a:pPr>
            <a:r>
              <a:t>•  Reports nobody can act on without re-verifying every line by hand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881360" cy="14630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600" b="1">
                <a:solidFill>
                  <a:srgbClr val="1C1E21"/>
                </a:solidFill>
              </a:defRPr>
            </a:pPr>
            <a:r>
              <a:t>Goal: scan a mid-size app (50–150 endpoints, one auth role, one workflow) and produce a report with ZERO false positives and manual-assessment-equivalent depth, in under a day, for under $20 of LLM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E21"/>
                </a:solidFill>
                <a:latin typeface="Calibri"/>
              </a:defRPr>
            </a:pPr>
            <a:r>
              <a:t>Three ideas the whole system follows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11880" cy="640080"/>
          </a:xfrm>
          <a:prstGeom prst="roundRect">
            <a:avLst/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1. Multi-Agent, Not One Big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3611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C1E21"/>
                </a:solidFill>
              </a:defRPr>
            </a:pPr>
            <a:r>
              <a:t>31 narrow, purpose-built detection agents each own one vulnerability class, run as parallel nodes in a LangGraph DAG, and use the cheapest technique that reliably confirms that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737360"/>
            <a:ext cx="3611880" cy="640080"/>
          </a:xfrm>
          <a:prstGeom prst="roundRect">
            <a:avLst/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2. Confirmed-Only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2514600"/>
            <a:ext cx="3611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C1E21"/>
                </a:solidFill>
              </a:defRPr>
            </a:pPr>
            <a:r>
              <a:t>Nothing becomes a Finding on a hunch. Deterministic probe → LLM triage → deterministic re-execution → adversarial validation, or it becomes a human-reviewed candidate.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8" y="1737360"/>
            <a:ext cx="3611880" cy="640080"/>
          </a:xfrm>
          <a:prstGeom prst="roundRect">
            <a:avLst/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3. Smart Scan (partial)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8" y="2514600"/>
            <a:ext cx="3611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C1E21"/>
                </a:solidFill>
              </a:defRPr>
            </a:pPr>
            <a:r>
              <a:t>A deterministic tech-stack fingerprint is computed and shown in every report — but today it gates only one check (SSTI). Broader cost-saving routing is a known next step, not shipped.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E21"/>
                </a:solidFill>
                <a:latin typeface="Calibri"/>
              </a:defRPr>
            </a:pPr>
            <a:r>
              <a:t>System Architecture</a:t>
            </a:r>
          </a:p>
        </p:txBody>
      </p:sp>
      <p:pic>
        <p:nvPicPr>
          <p:cNvPr id="5" name="Picture 4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360056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B6270"/>
                </a:solidFill>
              </a:defRPr>
            </a:pPr>
            <a:r>
              <a:t>React/TypeScript frontend, FastAPI backend, pluggable AI/storage/KMS layers, and a wide enterprise-integration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APP INFO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E21"/>
                </a:solidFill>
                <a:latin typeface="Calibri"/>
              </a:defRPr>
            </a:pPr>
            <a:r>
              <a:t>What it's 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1C1E21"/>
                </a:solidFill>
              </a:defRPr>
            </a:pPr>
            <a:r>
              <a:t>•  Frontend — Vite + React + TypeScript + TanStack Query + React Router + Tailwind CSS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1C1E21"/>
                </a:solidFill>
              </a:defRPr>
            </a:pPr>
            <a:r>
              <a:t>•  Backend — Python 3.11+, FastAPI, SQLAlchemy 2.0 (async), Alembic, served via uv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1C1E21"/>
                </a:solidFill>
              </a:defRPr>
            </a:pPr>
            <a:r>
              <a:t>•  Database — PostgreSQL (dialect-agnostic ORM; test suite runs on ephemeral SQLite)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1C1E21"/>
                </a:solidFill>
              </a:defRPr>
            </a:pPr>
            <a:r>
              <a:t>•  AI layer — LangGraph 31-node multi-agent scan DAG; pluggable Claude/OpenAI/Gemini/Grok/custom-endpoint providers, with automatic per-task model tiering applied invisibly underneath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1C1E21"/>
                </a:solidFill>
              </a:defRPr>
            </a:pPr>
            <a:r>
              <a:t>•  Browser automation — Playwright (Chromium) for real execution proofs and login-macro recording, streamed live via a Docker-hosted VNC stack</a:t>
            </a:r>
          </a:p>
          <a:p>
            <a:pPr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1C1E21"/>
                </a:solidFill>
              </a:defRPr>
            </a:pPr>
            <a:r>
              <a:t>•  Deployment &amp; integrations — Docker Compose end to end; Jira/Slack/Teams/Outlook/Burp/CMDB/VGS/SSO integrations, plus a standalone browser extension for native setups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MULTI-AGENT SCANNING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E21"/>
                </a:solidFill>
                <a:latin typeface="Calibri"/>
              </a:defRPr>
            </a:pPr>
            <a:r>
              <a:t>35 detection agents in the scan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57600" cy="12344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400" b="1">
                <a:solidFill>
                  <a:srgbClr val="6D28D9"/>
                </a:solidFill>
              </a:defRPr>
            </a:pPr>
            <a:r>
              <a:t>Injection</a:t>
            </a:r>
          </a:p>
          <a:p>
            <a:pPr algn="l">
              <a:defRPr sz="1100">
                <a:solidFill>
                  <a:srgbClr val="1C1E21"/>
                </a:solidFill>
              </a:defRPr>
            </a:pPr>
            <a:r>
              <a:t>SQLi, OS command injection, SSTI, path traversal, NoSQLi, CSV/formula injection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657600" cy="12344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400" b="1">
                <a:solidFill>
                  <a:srgbClr val="6D28D9"/>
                </a:solidFill>
              </a:defRPr>
            </a:pPr>
            <a:r>
              <a:t>XSS</a:t>
            </a:r>
          </a:p>
          <a:p>
            <a:pPr algn="l">
              <a:defRPr sz="1100">
                <a:solidFill>
                  <a:srgbClr val="1C1E21"/>
                </a:solidFill>
              </a:defRPr>
            </a:pPr>
            <a:r>
              <a:t>Reflected, DOM-based, stored — with real browser execution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554480"/>
            <a:ext cx="3657600" cy="12344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400" b="1">
                <a:solidFill>
                  <a:srgbClr val="6D28D9"/>
                </a:solidFill>
              </a:defRPr>
            </a:pPr>
            <a:r>
              <a:t>Access &amp; Auth</a:t>
            </a:r>
          </a:p>
          <a:p>
            <a:pPr algn="l">
              <a:defRPr sz="1100">
                <a:solidFill>
                  <a:srgbClr val="1C1E21"/>
                </a:solidFill>
              </a:defRPr>
            </a:pPr>
            <a:r>
              <a:t>Access control, auth bypass, OAuth redirect validation, session invalidation, weak password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98648"/>
            <a:ext cx="3657600" cy="12344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400" b="1">
                <a:solidFill>
                  <a:srgbClr val="6D28D9"/>
                </a:solidFill>
              </a:defRPr>
            </a:pPr>
            <a:r>
              <a:t>Business Logic</a:t>
            </a:r>
          </a:p>
          <a:p>
            <a:pPr algn="l">
              <a:defRPr sz="1100">
                <a:solidFill>
                  <a:srgbClr val="1C1E21"/>
                </a:solidFill>
              </a:defRPr>
            </a:pPr>
            <a:r>
              <a:t>IDOR, race conditions, workflow bypass, mass assignment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898648"/>
            <a:ext cx="3657600" cy="12344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400" b="1">
                <a:solidFill>
                  <a:srgbClr val="6D28D9"/>
                </a:solidFill>
              </a:defRPr>
            </a:pPr>
            <a:r>
              <a:t>Request Integrity</a:t>
            </a:r>
          </a:p>
          <a:p>
            <a:pPr algn="l">
              <a:defRPr sz="1100">
                <a:solidFill>
                  <a:srgbClr val="1C1E21"/>
                </a:solidFill>
              </a:defRPr>
            </a:pPr>
            <a:r>
              <a:t>CSRF, CORS, host header, request smuggling, cache poisoning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898648"/>
            <a:ext cx="3657600" cy="12344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400" b="1">
                <a:solidFill>
                  <a:srgbClr val="6D28D9"/>
                </a:solidFill>
              </a:defRPr>
            </a:pPr>
            <a:r>
              <a:t>Client &amp; Framework</a:t>
            </a:r>
          </a:p>
          <a:p>
            <a:pPr algn="l">
              <a:defRPr sz="1100">
                <a:solidFill>
                  <a:srgbClr val="1C1E21"/>
                </a:solidFill>
              </a:defRPr>
            </a:pPr>
            <a:r>
              <a:t>Clickjacking, prototype pollution, GraphQL, WebSocket security, known-vulnerable JS components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242816"/>
            <a:ext cx="3657600" cy="12344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400" b="1">
                <a:solidFill>
                  <a:srgbClr val="6D28D9"/>
                </a:solidFill>
              </a:defRPr>
            </a:pPr>
            <a:r>
              <a:t>Data Handling</a:t>
            </a:r>
          </a:p>
          <a:p>
            <a:pPr algn="l">
              <a:defRPr sz="1100">
                <a:solidFill>
                  <a:srgbClr val="1C1E21"/>
                </a:solidFill>
              </a:defRPr>
            </a:pPr>
            <a:r>
              <a:t>XXE, insecure deserialization, file upload incl. polyglot bypass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242816"/>
            <a:ext cx="3657600" cy="12344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400" b="1">
                <a:solidFill>
                  <a:srgbClr val="6D28D9"/>
                </a:solidFill>
              </a:defRPr>
            </a:pPr>
            <a:r>
              <a:t>Network</a:t>
            </a:r>
          </a:p>
          <a:p>
            <a:pPr algn="l">
              <a:defRPr sz="1100">
                <a:solidFill>
                  <a:srgbClr val="1C1E21"/>
                </a:solidFill>
              </a:defRPr>
            </a:pPr>
            <a:r>
              <a:t>SSRF with real out-of-band callback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242816"/>
            <a:ext cx="3657600" cy="12344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defRPr sz="1400" b="1">
                <a:solidFill>
                  <a:srgbClr val="6D28D9"/>
                </a:solidFill>
              </a:defRPr>
            </a:pPr>
            <a:r>
              <a:t>Config &amp; Disclosure</a:t>
            </a:r>
          </a:p>
          <a:p>
            <a:pPr algn="l">
              <a:defRPr sz="1100">
                <a:solidFill>
                  <a:srgbClr val="1C1E21"/>
                </a:solidFill>
              </a:defRPr>
            </a:pPr>
            <a:r>
              <a:t>Security headers, HSTS, cookie flags, version disclosure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MULTI-AGENT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E21"/>
                </a:solidFill>
                <a:latin typeface="Calibri"/>
              </a:defRPr>
            </a:pPr>
            <a:r>
              <a:t>Scan Lifecycle</a:t>
            </a:r>
          </a:p>
        </p:txBody>
      </p:sp>
      <p:pic>
        <p:nvPicPr>
          <p:cNvPr id="5" name="Picture 4" descr="03_scan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929768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B6270"/>
                </a:solidFill>
              </a:defRPr>
            </a:pPr>
            <a:r>
              <a:t>The real, verified 31-node graph — zero conditional edges, every node always runs. chain_analysis is a 32nd step that runs after the graph completes.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QUALITY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E21"/>
                </a:solidFill>
                <a:latin typeface="Calibri"/>
              </a:defRPr>
            </a:pPr>
            <a:r>
              <a:t>Confirmed-Only Findings</a:t>
            </a:r>
          </a:p>
        </p:txBody>
      </p:sp>
      <p:pic>
        <p:nvPicPr>
          <p:cNvPr id="5" name="Picture 4" descr="04_confirmed_only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908139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B6270"/>
                </a:solidFill>
              </a:defRPr>
            </a:pPr>
            <a:r>
              <a:t>A candidate must survive deterministic re-execution and adversarial LLM validation before it becomes a Finding — or it becomes a human-reviewed candidate.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AI PROVIDER ABSTRACTION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E21"/>
                </a:solidFill>
                <a:latin typeface="Calibri"/>
              </a:defRPr>
            </a:pPr>
            <a:r>
              <a:t>Bring Your Own LLM</a:t>
            </a:r>
          </a:p>
        </p:txBody>
      </p:sp>
      <p:pic>
        <p:nvPicPr>
          <p:cNvPr id="5" name="Picture 4" descr="05_ai_provider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2848048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B6270"/>
                </a:solidFill>
              </a:defRPr>
            </a:pPr>
            <a:r>
              <a:t>Claude, OpenAI, Gemini, Grok, or any in-house OpenAI-compatible model — configured once in the UI. The backend automatically substitutes a cheaper or stronger same-family model for a handful of specific tasks, invisibly. A $2.00/scan hard cost cap is enforced underneath.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1E21"/>
                </a:solidFill>
                <a:latin typeface="Calibri"/>
              </a:defRPr>
            </a:pPr>
            <a:r>
              <a:t>OWASP Top 10 (2025) + PortSwigger Web Security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Injection — SQL, OS command, SSTI, NoSQL, path traversal, CSV/formula injection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Broken access control — IDOR, privilege escalation, missing function-level checks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Cryptographic &amp; session failures — token entropy, cookie attribute hygiene, session not invalidated on logout, weak password policy acceptance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Cross-site scripting — reflected / DOM / stored, real browser execution proof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Security misconfiguration — headers, plaintext HTTP, version disclosure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SSRF — real out-of-band callback verified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Authentication failures — auth bypass, OAuth redirect-URI validation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Software &amp; data integrity — insecure deserialization, prototype pollution, known-vulnerable client-side components (checked against OSV.dev)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XXE, GraphQL introspection/DoS surface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File upload — dangerous extensions + image-polyglot bypass technique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CSRF, CORS, clickjacking — with real browser-confirmed framability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HTTP request smuggling &amp; cache poisoning/deception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WebSocket security, business logic (race conditions, workflow, mass assignment)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LLM / Chatbot Pentest — OWASP LLM Top 10 2026 + Agentic Top 10 2026: prompt injection, hidden-context extraction, improper output handling, excessive agency, unexpected code execution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400" b="0">
                <a:solidFill>
                  <a:srgbClr val="1C1E21"/>
                </a:solidFill>
              </a:defRPr>
            </a:pPr>
            <a:r>
              <a:t>•  API-specific &amp; CSP — deprecated API version data exposure, open redirect, JSONP-callback CSP bypass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BEYOND SINGLE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E21"/>
                </a:solidFill>
                <a:latin typeface="Calibri"/>
              </a:defRPr>
            </a:pPr>
            <a:r>
              <a:t>Attack chains, retest &amp; rescan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700" b="0">
                <a:solidFill>
                  <a:srgbClr val="1C1E21"/>
                </a:solidFill>
              </a:defRPr>
            </a:pPr>
            <a:r>
              <a:t>•  Attack Chain Analysis</a:t>
            </a:r>
          </a:p>
          <a:p>
            <a:pPr>
              <a:lnSpc>
                <a:spcPct val="125000"/>
              </a:lnSpc>
              <a:spcAft>
                <a:spcPts val="400"/>
              </a:spcAft>
              <a:defRPr sz="1400" b="0">
                <a:solidFill>
                  <a:srgbClr val="5B6270"/>
                </a:solidFill>
              </a:defRPr>
            </a:pPr>
            <a:r>
              <a:t>‣  Runs after every other agent completes, looking for standalone findings that compose into a more severe, realistic attack path (e.g. reflected XSS + missing CSRF token → account takeover)</a:t>
            </a:r>
          </a:p>
          <a:p>
            <a:pPr>
              <a:lnSpc>
                <a:spcPct val="125000"/>
              </a:lnSpc>
              <a:spcAft>
                <a:spcPts val="400"/>
              </a:spcAft>
              <a:defRPr sz="1400" b="0">
                <a:solidFill>
                  <a:srgbClr val="5B6270"/>
                </a:solidFill>
              </a:defRPr>
            </a:pPr>
            <a:r>
              <a:t>‣  Goes through the same adversarial-validation discipline as individual findings — no rubber-stamping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 b="0">
                <a:solidFill>
                  <a:srgbClr val="1C1E21"/>
                </a:solidFill>
              </a:defRPr>
            </a:pPr>
            <a:r>
              <a:t>•  Rescan</a:t>
            </a:r>
          </a:p>
          <a:p>
            <a:pPr>
              <a:lnSpc>
                <a:spcPct val="125000"/>
              </a:lnSpc>
              <a:spcAft>
                <a:spcPts val="400"/>
              </a:spcAft>
              <a:defRPr sz="1400" b="0">
                <a:solidFill>
                  <a:srgbClr val="5B6270"/>
                </a:solidFill>
              </a:defRPr>
            </a:pPr>
            <a:r>
              <a:t>‣  Full re-run, diffed against the prior scan: new findings, still_open, and fixed — human decisions like risk_accepted are never silently overridden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 b="0">
                <a:solidFill>
                  <a:srgbClr val="1C1E21"/>
                </a:solidFill>
              </a:defRPr>
            </a:pPr>
            <a:r>
              <a:t>•  Retest</a:t>
            </a:r>
          </a:p>
          <a:p>
            <a:pPr>
              <a:lnSpc>
                <a:spcPct val="125000"/>
              </a:lnSpc>
              <a:spcAft>
                <a:spcPts val="400"/>
              </a:spcAft>
              <a:defRPr sz="1400" b="0">
                <a:solidFill>
                  <a:srgbClr val="5B6270"/>
                </a:solidFill>
              </a:defRPr>
            </a:pPr>
            <a:r>
              <a:t>‣  Targeted, single-finding re-verification — "we just deployed a fix, did it work" — without paying for a full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E21"/>
                </a:solidFill>
                <a:latin typeface="Calibri"/>
              </a:defRPr>
            </a:pPr>
            <a:r>
              <a:t>One dataset, every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HTML, PDF, DOCX, CSV, and JSON exports — all generated from the same underlying Finding records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Finding grouping — shared check types collapse into one section with full evidence for a representative sample, preventing runaway report length (one real scan: 291 findings, not 629 pages)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LLM-generated executive summary for non-technical stakeholders — generated once, cached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Org branding — logo and primary color on every generated report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A native, ported VGS report-builder workflow for teams that want manual curation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VGS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E21"/>
                </a:solidFill>
                <a:latin typeface="Calibri"/>
              </a:defRPr>
            </a:pPr>
            <a:r>
              <a:t>Three complementary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76218" cy="42062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0">
                <a:solidFill>
                  <a:srgbClr val="1C1E21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307738" y="1600200"/>
            <a:ext cx="3576218" cy="42062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0">
                <a:solidFill>
                  <a:srgbClr val="1C1E21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11901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6D28D9"/>
                </a:solidFill>
              </a:defRPr>
            </a:pPr>
            <a:r>
              <a:t>Decoupled Webhook Push</a:t>
            </a:r>
          </a:p>
          <a:p>
            <a:pPr>
              <a:spcAft>
                <a:spcPts val="800"/>
              </a:spcAft>
              <a:defRPr sz="1300"/>
            </a:pPr>
            <a:r>
              <a:t>•  On scan completion, Verdikt POSTs findings to VGS's ingestion webhook</a:t>
            </a:r>
          </a:p>
          <a:p>
            <a:pPr>
              <a:spcAft>
                <a:spcPts val="800"/>
              </a:spcAft>
              <a:defRPr sz="1300"/>
            </a:pPr>
            <a:r>
              <a:t>•  Tagged source: ai-multi-agent</a:t>
            </a:r>
          </a:p>
          <a:p>
            <a:pPr>
              <a:spcAft>
                <a:spcPts val="800"/>
              </a:spcAft>
              <a:defRPr sz="1300"/>
            </a:pPr>
            <a:r>
              <a:t>•  VGS stays system of record for governance/remediation</a:t>
            </a:r>
          </a:p>
          <a:p>
            <a:pPr>
              <a:spcAft>
                <a:spcPts val="800"/>
              </a:spcAft>
              <a:defRPr sz="1300"/>
            </a:pPr>
            <a:r>
              <a:t>•  Best-effort: a broken webhook never fails the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338" y="1783080"/>
            <a:ext cx="311901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6D28D9"/>
                </a:solidFill>
              </a:defRPr>
            </a:pPr>
            <a:r>
              <a:t>Native Report-Builder</a:t>
            </a:r>
          </a:p>
          <a:p>
            <a:pPr>
              <a:spcAft>
                <a:spcPts val="800"/>
              </a:spcAft>
              <a:defRPr sz="1300"/>
            </a:pPr>
            <a:r>
              <a:t>•  VGS's manual workflow, ported into Verdikt as its own workspace</a:t>
            </a:r>
          </a:p>
          <a:p>
            <a:pPr>
              <a:spcAft>
                <a:spcPts val="800"/>
              </a:spcAft>
              <a:defRPr sz="1300"/>
            </a:pPr>
            <a:r>
              <a:t>•  Vulnerability Picker: confirmed findings, auto-seeded and tracked</a:t>
            </a:r>
          </a:p>
          <a:p>
            <a:pPr>
              <a:spcAft>
                <a:spcPts val="800"/>
              </a:spcAft>
              <a:defRPr sz="1300"/>
            </a:pPr>
            <a:r>
              <a:t>•  Delete or edit severity; "Load from PortSwigger" one-click pull</a:t>
            </a:r>
          </a:p>
          <a:p>
            <a:pPr>
              <a:spcAft>
                <a:spcPts val="800"/>
              </a:spcAft>
              <a:defRPr sz="1300"/>
            </a:pPr>
            <a:r>
              <a:t>•  Generate Report: same DOCX shape as the original VGS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6836" y="1600200"/>
            <a:ext cx="3576218" cy="420624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0">
                <a:solidFill>
                  <a:srgbClr val="1C1E21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295436" y="1783080"/>
            <a:ext cx="311901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6D28D9"/>
                </a:solidFill>
              </a:defRPr>
            </a:pPr>
            <a:r>
              <a:t>Per-Scan-Run Export</a:t>
            </a:r>
          </a:p>
          <a:p>
            <a:pPr>
              <a:spcAft>
                <a:spcPts val="800"/>
              </a:spcAft>
              <a:defRPr sz="1300"/>
            </a:pPr>
            <a:r>
              <a:t>•  One-click report.vgs.docx export scoped to a single scan run</a:t>
            </a:r>
          </a:p>
          <a:p>
            <a:pPr>
              <a:spcAft>
                <a:spcPts val="800"/>
              </a:spcAft>
              <a:defRPr sz="1300"/>
            </a:pPr>
            <a:r>
              <a:t>•  Transient — not persisted or tracked like the workspace mode</a:t>
            </a:r>
          </a:p>
          <a:p>
            <a:pPr>
              <a:spcAft>
                <a:spcPts val="800"/>
              </a:spcAft>
              <a:defRPr sz="1300"/>
            </a:pPr>
            <a:r>
              <a:t>•  For a quick handoff when a full workspace isn't needed</a:t>
            </a:r>
          </a:p>
          <a:p>
            <a:pPr>
              <a:spcAft>
                <a:spcPts val="800"/>
              </a:spcAft>
              <a:defRPr sz="1300"/>
            </a:pPr>
            <a:r>
              <a:t>•  Same VGS-shaped DOCX output as the other two modes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ENTERPRISE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E21"/>
                </a:solidFill>
                <a:latin typeface="Calibri"/>
              </a:defRPr>
            </a:pPr>
            <a:r>
              <a:t>Built for real organizations, not just demos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RBAC — real DB-backed role_permissions table across 19 resource types; new roles are data changes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SSO — SAML and OIDC, per-org, with configurable default role assignment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Ticketing &amp; notifications — Jira, Slack, Microsoft Teams, Outlook, plus a conversational Teams bot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CMDB integration — generic, configurable REST client for any vendor's asset inventory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API keys — long-lived, revocable tokens for CI/automation clients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Audit log — every state-changing action recorded with actor, action, resource, metadata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Cost governor — a per-scan-run cap on estimated LLM spend, enforced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DATA HANDLING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E21"/>
                </a:solidFill>
                <a:latin typeface="Calibri"/>
              </a:defRPr>
            </a:pPr>
            <a:r>
              <a:t>What leaves your infrastructure, and what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Multi-tenant isolation — every org_id-scoped resource chain (Project → Version → ScanRun → Finding) is enforced at the query layer, not just the UI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Scope enforcement — ScopedHttpClient blocks any request outside a Version's declared scope; a scan can't wander off or exfiltrate to unauthorized infrastructure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Credential encryption — every stored secret envelope-encrypted via KMS before touching the database; plaintext never logged or echoed back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The one real third-party data flow — AI-assisted triage sends truncated request/response snippets to whichever LLM provider is configured for that scan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Close it off entirely — point the AI provider at a self-hosted/on-prem endpoint, or run with no AI provider at all; deterministic checks (most of the catalog) still produce real, confirmed findings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Evidence storage — screenshots and captured traffic go to local disk or S3, under the deploying organization's own infrastructure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1C1E21"/>
                </a:solidFill>
              </a:defRPr>
            </a:pPr>
            <a:r>
              <a:t>•  No telemetry — no analytics/telemetry SDK of any kind anywhere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CROSS-PLATFORM, ONE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C1E21"/>
                </a:solidFill>
                <a:latin typeface="Calibri"/>
              </a:defRPr>
            </a:pPr>
            <a:r>
              <a:t>Deployment</a:t>
            </a:r>
          </a:p>
        </p:txBody>
      </p:sp>
      <p:pic>
        <p:nvPicPr>
          <p:cNvPr id="5" name="Picture 4" descr="06_deployment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2533854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B6270"/>
                </a:solidFill>
              </a:defRPr>
            </a:pPr>
            <a:r>
              <a:t>docker compose up — verified end-to-end on a fresh environment; migrations run automatically; works identically on macOS, Linux, and Windows.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E21"/>
                </a:solidFill>
                <a:latin typeface="Calibri"/>
              </a:defRPr>
            </a:pPr>
            <a:r>
              <a:t>The codebase, counted — not estimated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51760" cy="155448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3400" b="1">
                <a:solidFill>
                  <a:srgbClr val="6D28D9"/>
                </a:solidFill>
              </a:defRPr>
            </a:pPr>
            <a:r>
              <a:t>57</a:t>
            </a:r>
          </a:p>
          <a:p>
            <a:pPr algn="ctr">
              <a:defRPr sz="1200">
                <a:solidFill>
                  <a:srgbClr val="1C1E21"/>
                </a:solidFill>
              </a:defRPr>
            </a:pPr>
            <a:r>
              <a:t>agent files</a:t>
            </a:r>
            <a:br/>
            <a:r>
              <a:t>(35 wired into the scan graph)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737360"/>
            <a:ext cx="2651760" cy="155448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3400" b="1">
                <a:solidFill>
                  <a:srgbClr val="6D28D9"/>
                </a:solidFill>
              </a:defRPr>
            </a:pPr>
            <a:r>
              <a:t>32</a:t>
            </a:r>
          </a:p>
          <a:p>
            <a:pPr algn="ctr">
              <a:defRPr sz="1200">
                <a:solidFill>
                  <a:srgbClr val="1C1E21"/>
                </a:solidFill>
              </a:defRPr>
            </a:pPr>
            <a:r>
              <a:t>API route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737360"/>
            <a:ext cx="2651760" cy="155448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3400" b="1">
                <a:solidFill>
                  <a:srgbClr val="6D28D9"/>
                </a:solidFill>
              </a:defRPr>
            </a:pPr>
            <a:r>
              <a:t>36</a:t>
            </a:r>
          </a:p>
          <a:p>
            <a:pPr algn="ctr">
              <a:defRPr sz="1200">
                <a:solidFill>
                  <a:srgbClr val="1C1E21"/>
                </a:solidFill>
              </a:defRPr>
            </a:pPr>
            <a:r>
              <a:t>persisted data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737360"/>
            <a:ext cx="2651760" cy="155448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3400" b="1">
                <a:solidFill>
                  <a:srgbClr val="6D28D9"/>
                </a:solidFill>
              </a:defRPr>
            </a:pPr>
            <a:r>
              <a:t>10</a:t>
            </a:r>
          </a:p>
          <a:p>
            <a:pPr algn="ctr">
              <a:defRPr sz="1200">
                <a:solidFill>
                  <a:srgbClr val="1C1E21"/>
                </a:solidFill>
              </a:defRPr>
            </a:pPr>
            <a:r>
              <a:t>external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2651760" cy="155448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3400" b="1">
                <a:solidFill>
                  <a:srgbClr val="6D28D9"/>
                </a:solidFill>
              </a:defRPr>
            </a:pPr>
            <a:r>
              <a:t>47</a:t>
            </a:r>
          </a:p>
          <a:p>
            <a:pPr algn="ctr">
              <a:defRPr sz="1200">
                <a:solidFill>
                  <a:srgbClr val="1C1E21"/>
                </a:solidFill>
              </a:defRPr>
            </a:pPr>
            <a:r>
              <a:t>static check IDs</a:t>
            </a:r>
            <a:br/>
            <a:r>
              <a:t>across 22 YAML catalogs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474720"/>
            <a:ext cx="2651760" cy="155448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3400" b="1">
                <a:solidFill>
                  <a:srgbClr val="6D28D9"/>
                </a:solidFill>
              </a:defRPr>
            </a:pPr>
            <a:r>
              <a:t>39</a:t>
            </a:r>
          </a:p>
          <a:p>
            <a:pPr algn="ctr">
              <a:defRPr sz="1200">
                <a:solidFill>
                  <a:srgbClr val="1C1E21"/>
                </a:solidFill>
              </a:defRPr>
            </a:pPr>
            <a:r>
              <a:t>Alembic migrations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474720"/>
            <a:ext cx="2651760" cy="155448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3400" b="1">
                <a:solidFill>
                  <a:srgbClr val="6D28D9"/>
                </a:solidFill>
              </a:defRPr>
            </a:pPr>
            <a:r>
              <a:t>21×4</a:t>
            </a:r>
          </a:p>
          <a:p>
            <a:pPr algn="ctr">
              <a:defRPr sz="1200">
                <a:solidFill>
                  <a:srgbClr val="1C1E21"/>
                </a:solidFill>
              </a:defRPr>
            </a:pPr>
            <a:r>
              <a:t>RBAC resources ×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474720"/>
            <a:ext cx="2651760" cy="155448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3400" b="1">
                <a:solidFill>
                  <a:srgbClr val="6D28D9"/>
                </a:solidFill>
              </a:defRPr>
            </a:pPr>
            <a:r>
              <a:t>721</a:t>
            </a:r>
          </a:p>
          <a:p>
            <a:pPr algn="ctr">
              <a:defRPr sz="1200">
                <a:solidFill>
                  <a:srgbClr val="1C1E21"/>
                </a:solidFill>
              </a:defRPr>
            </a:pPr>
            <a:r>
              <a:t>tests across 126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200">
                <a:solidFill>
                  <a:srgbClr val="5B6270"/>
                </a:solidFill>
              </a:defRPr>
            </a:pPr>
            <a:r>
              <a:t>Verified by direct code inspection and by running the test collector — not estimated.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AN HONEST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E21"/>
                </a:solidFill>
                <a:latin typeface="Calibri"/>
              </a:defRPr>
            </a:pPr>
            <a:r>
              <a:t>Spec vs. reality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448056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0">
                <a:solidFill>
                  <a:srgbClr val="1C1E21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394960" cy="4480560"/>
          </a:xfrm>
          <a:prstGeom prst="roundRect">
            <a:avLst/>
          </a:prstGeom>
          <a:solidFill>
            <a:srgbClr val="F3EE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300" b="0">
                <a:solidFill>
                  <a:srgbClr val="1C1E21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6D28D9"/>
                </a:solidFill>
              </a:defRPr>
            </a:pPr>
            <a:r>
              <a:t>Built less than originally specified</a:t>
            </a:r>
          </a:p>
          <a:p>
            <a:pPr>
              <a:spcAft>
                <a:spcPts val="700"/>
              </a:spcAft>
              <a:defRPr sz="1300"/>
            </a:pPr>
            <a:r>
              <a:t>•  Pre-scan authorization gate — built, then fully removed</a:t>
            </a:r>
          </a:p>
          <a:p>
            <a:pPr>
              <a:spcAft>
                <a:spcPts val="700"/>
              </a:spcAft>
              <a:defRPr sz="1300"/>
            </a:pPr>
            <a:r>
              <a:t>•  Human-in-the-loop approval checkpoints — not built</a:t>
            </a:r>
          </a:p>
          <a:p>
            <a:pPr>
              <a:spcAft>
                <a:spcPts val="700"/>
              </a:spcAft>
              <a:defRPr sz="1300"/>
            </a:pPr>
            <a:r>
              <a:t>•  Smart Scan graph-level routing — only one narrow case (SSTI)</a:t>
            </a:r>
          </a:p>
          <a:p>
            <a:pPr>
              <a:spcAft>
                <a:spcPts val="700"/>
              </a:spcAft>
              <a:defRPr sz="1300"/>
            </a:pPr>
            <a:r>
              <a:t>•  Orchestration engine — LangGraph, not Temporal.io (the spec's primary recommendation)</a:t>
            </a:r>
          </a:p>
          <a:p>
            <a:pPr>
              <a:spcAft>
                <a:spcPts val="700"/>
              </a:spcAft>
              <a:defRPr sz="1300"/>
            </a:pPr>
            <a:r>
              <a:t>•  Depth slider (Quick/Standard/Deep) — not built</a:t>
            </a:r>
          </a:p>
          <a:p>
            <a:pPr>
              <a:spcAft>
                <a:spcPts val="700"/>
              </a:spcAft>
              <a:defRPr sz="1300"/>
            </a:pPr>
            <a:r>
              <a:t>•  Cross-credential-set result caching — not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6D28D9"/>
                </a:solidFill>
              </a:defRPr>
            </a:pPr>
            <a:r>
              <a:t>Built beyond what was specified</a:t>
            </a:r>
          </a:p>
          <a:p>
            <a:pPr>
              <a:spcAft>
                <a:spcPts val="700"/>
              </a:spcAft>
              <a:defRPr sz="1300"/>
            </a:pPr>
            <a:r>
              <a:t>•  VGS integration — spec asked for webhook push only; shipped three modes (webhook, native workspace, per-scan-run export)</a:t>
            </a:r>
          </a:p>
          <a:p>
            <a:pPr>
              <a:spcAft>
                <a:spcPts val="700"/>
              </a:spcAft>
              <a:defRPr sz="1300"/>
            </a:pPr>
            <a:r>
              <a:t>•  Image-polyglot file-upload bypass technique</a:t>
            </a:r>
          </a:p>
          <a:p>
            <a:pPr>
              <a:spcAft>
                <a:spcPts val="700"/>
              </a:spcAft>
              <a:defRPr sz="1300"/>
            </a:pPr>
            <a:r>
              <a:t>•  "Load from PortSwigger" scraper integration</a:t>
            </a:r>
          </a:p>
          <a:p>
            <a:pPr>
              <a:spcAft>
                <a:spcPts val="700"/>
              </a:spcAft>
              <a:defRPr sz="1300"/>
            </a:pPr>
            <a:r>
              <a:t>•  UI-only, per-org default AI provider configuration</a:t>
            </a:r>
          </a:p>
          <a:p>
            <a:pPr>
              <a:spcAft>
                <a:spcPts val="700"/>
              </a:spcAft>
              <a:defRPr sz="1300"/>
            </a:pPr>
            <a:r>
              <a:t>•  A genuine conversational Microsoft Teams bot</a:t>
            </a:r>
          </a:p>
          <a:p>
            <a:pPr>
              <a:spcAft>
                <a:spcPts val="700"/>
              </a:spcAft>
              <a:defRPr sz="1300"/>
            </a:pPr>
            <a:r>
              <a:t>•  Two independent login-macro recorders, four checks ported from a sibling DAST project, and (2nd attempt) automatic, zero-config per-task model tiering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E21"/>
                </a:solidFill>
                <a:latin typeface="Calibri"/>
              </a:defRPr>
            </a:pPr>
            <a:r>
              <a:t>Testing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667 tests across 119 files, confirmed via pytest --collect-only — real fixtures over mocks: local HTTP servers, a real headless browser, real cryptographic round-trips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Live-validated against OWASP Juice Shop and a real DVWA instance across all four security levels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DVWA "Impossible" correctly produces zero injection/XSS findings; "Medium" correctly yields confirmed SQLi and command injection through the full pipeline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Every bug fix in this system's history was root-caused against a real, running target — not inferred from a stack trace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E21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Build out Smart Scan's graph-level routing — use the fingerprint to actually skip irrelevant node scheduling, not just display it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A depth/intensity profile (Quick / Standard / Deep) as a scan-trigger option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Extend automatic model tiering to Gemini once its 3.x naming stabilizes past the October 2026 retirement of the 2.5 line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A more sophisticated file-upload bypass technique, chaining into a standalone RCE proof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Configurable human-in-the-loop approval checkpoints for the most invasive check categories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ASI02 Tool Misuse's malicious-argument-to-a-real-tool-call half — deferred pending tool/function-manifest introspection to design against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800" b="0">
                <a:solidFill>
                  <a:srgbClr val="1C1E21"/>
                </a:solidFill>
              </a:defRPr>
            </a:pPr>
            <a:r>
              <a:t>•  Indirect prompt injection via RAG-corpus poisoning for the Chatbot Pentest capability — deferred pending a safe, generic way to plant content into a target's retrieval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COMMON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1E21"/>
                </a:solidFill>
                <a:latin typeface="Calibri"/>
              </a:defRPr>
            </a:pPr>
            <a:r>
              <a:t>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defRPr sz="1400" b="0">
                <a:solidFill>
                  <a:srgbClr val="1C1E21"/>
                </a:solidFill>
              </a:defRPr>
            </a:pPr>
            <a:r>
              <a:t>•  How does crawling work? — A Playwright-driven crawler discovers pages/forms/API calls within scope; uploaded traffic (HAR/Burp/Zest) supplements live crawling, it doesn't replace it.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400" b="0">
                <a:solidFill>
                  <a:srgbClr val="1C1E21"/>
                </a:solidFill>
              </a:defRPr>
            </a:pPr>
            <a:r>
              <a:t>•  How are vulnerabilities found, and what does AI actually do? — Deterministic HTTP-level probes run first; AI only triages results and helps craft context-aware payloads. AI never single-handedly confirms a finding.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400" b="0">
                <a:solidFill>
                  <a:srgbClr val="1C1E21"/>
                </a:solidFill>
              </a:defRPr>
            </a:pPr>
            <a:r>
              <a:t>•  How is this different from WebInspect or Checkmarx? — Those are single-pass deterministic scanners; Verdikt pairs the same deterministic probing with LLM-assisted triage and adversarial validation, so only confirmed findings reach a report.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400" b="0">
                <a:solidFill>
                  <a:srgbClr val="1C1E21"/>
                </a:solidFill>
              </a:defRPr>
            </a:pPr>
            <a:r>
              <a:t>•  If I upload traffic, does it still crawl the live site? — Yes — uploaded traffic and live crawling both run and combine into one scope.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400" b="0">
                <a:solidFill>
                  <a:srgbClr val="1C1E21"/>
                </a:solidFill>
              </a:defRPr>
            </a:pPr>
            <a:r>
              <a:t>•  What's the architecture, and why AI if scans are deterministic? — A 31-node LangGraph DAG per scan: deterministic probe → AI triage → deterministic re-execution → adversarial AI validation. AI expands and interprets; it never decides alone.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400" b="0">
                <a:solidFill>
                  <a:srgbClr val="1C1E21"/>
                </a:solidFill>
              </a:defRPr>
            </a:pPr>
            <a:r>
              <a:t>•  Can Verdikt test a chatbot or LLM-backed app? — Yes — configure a ChatbotTarget and it's checked for prompt injection, hidden-context extraction, improper output handling, excessive agency, and code execution, the same conversational text-in/text-out safety envelope as every other AI-judged check.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400" b="0">
                <a:solidFill>
                  <a:srgbClr val="1C1E21"/>
                </a:solidFill>
              </a:defRPr>
            </a:pPr>
            <a:r>
              <a:t>•  Can I save a custom auth header on a credential? — Yes — extra_headers forces a static header (e.g. X-API-Key) onto every request for that credential, layered on top of any login type including a recorded macro, not just bearer tokens.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270"/>
                </a:solidFill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270"/>
                </a:solidFill>
              </a:defRPr>
            </a:pPr>
            <a:r>
              <a:t>Verdikt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3EEFB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D28D9"/>
                </a:solidFill>
                <a:latin typeface="Calibri"/>
              </a:rPr>
              <a:t>A SECOND EXECUTION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1E21"/>
                </a:solidFill>
                <a:latin typeface="Calibri"/>
              </a:rPr>
              <a:t>AI-Driven Autonomous Pentest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2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D28D9"/>
                </a:solidFill>
              </a:rPr>
              <a:t>Verdikt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00000"/>
            <a:ext cx="5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•  Sits alongside the 35-node deterministic DAG — doesn't replace it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•  A real LLM decides turn by turn what to investigate, with genuine shell tool-calling (curl, nmap, sqlmap, nikto, ffuf)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•  Runs inside an isolated, network-restricted sandbox — Docker socket lives in a separate sidecar, never the main backend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•  iptables egress allow-list, live-verified to block a raw nmap SYN scan even when the model is explicitly told to try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C1E21"/>
                </a:solidFill>
                <a:latin typeface="Calibri"/>
              </a:rPr>
              <a:t>•  Every finding requires real request/response evidence — the same “never guess a finding into existence” discipline as every deterministic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0000" y="1400000"/>
            <a:ext cx="5200000" cy="4800000"/>
          </a:xfrm>
          <a:prstGeom prst="round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50000" y="1600000"/>
            <a:ext cx="47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Built directly in response to user feedback:</a:t>
            </a:r>
          </a:p>
          <a:p>
            <a:pPr>
              <a:spcBef>
                <a:spcPts val="1000"/>
              </a:spcBef>
            </a:pPr>
            <a:r>
              <a:rPr i="1" sz="1500">
                <a:solidFill>
                  <a:srgbClr val="1C1E21"/>
                </a:solidFill>
              </a:rPr>
              <a:t>“I wanted AI to perform a pentest, not a deterministic scan.”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D28D9"/>
                </a:solidFill>
                <a:latin typeface="Calibri"/>
              </a:rPr>
              <a:t>LIVE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1E21"/>
                </a:solidFill>
                <a:latin typeface="Calibri"/>
              </a:rPr>
              <a:t>Real Findings, and an Honest Reliability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2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D28D9"/>
                </a:solidFill>
              </a:rPr>
              <a:t>Verdikt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0000"/>
            <a:ext cx="11094415" cy="700000"/>
          </a:xfrm>
          <a:prstGeom prst="round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0000" y="1525000"/>
            <a:ext cx="1100000" cy="35000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7F1D1D"/>
                </a:solidFill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0000" y="1350000"/>
            <a:ext cx="6000000" cy="7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>
                <a:solidFill>
                  <a:srgbClr val="1C1E21"/>
                </a:solidFill>
              </a:rPr>
              <a:t>SQL injection auth bypass + 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000" y="1350000"/>
            <a:ext cx="3200000" cy="7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5B6270"/>
                </a:solidFill>
              </a:rPr>
              <a:t>demo.testfire.net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70000"/>
            <a:ext cx="11094415" cy="700000"/>
          </a:xfrm>
          <a:prstGeom prst="round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0000" y="2345000"/>
            <a:ext cx="1100000" cy="35000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7F1D1D"/>
                </a:solidFill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0000" y="2170000"/>
            <a:ext cx="6000000" cy="7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>
                <a:solidFill>
                  <a:srgbClr val="1C1E21"/>
                </a:solidFill>
              </a:rPr>
              <a:t>Reflected XSS, screenshot-verified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0000" y="2170000"/>
            <a:ext cx="3200000" cy="7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5B6270"/>
                </a:solidFill>
              </a:rPr>
              <a:t>demo.testfire.net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90000"/>
            <a:ext cx="11094415" cy="700000"/>
          </a:xfrm>
          <a:prstGeom prst="round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0000" y="3165000"/>
            <a:ext cx="1100000" cy="35000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7F1D1D"/>
                </a:solidFill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0000" y="2990000"/>
            <a:ext cx="6000000" cy="7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 b="1">
                <a:solidFill>
                  <a:srgbClr val="1C1E21"/>
                </a:solidFill>
              </a:rPr>
              <a:t>Blind SQLi + command injection (bypassing filters)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0000" y="2990000"/>
            <a:ext cx="3200000" cy="7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5B6270"/>
                </a:solidFill>
              </a:rPr>
              <a:t>DVWA — 24-session sweep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60000"/>
            <a:ext cx="11094415" cy="2200000"/>
          </a:xfrm>
          <a:prstGeom prst="round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000" y="4130000"/>
            <a:ext cx="107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2400E"/>
                </a:solidFill>
              </a:rPr>
              <a:t>Honest finding: the dominant cause of a missed vulnerability wasn't investigation quality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C1E21"/>
                </a:solidFill>
              </a:rPr>
              <a:t>A 24-session DVWA sweep found most zero-finding sessions never even reached the vulnerability — they lost a fragile, multi-step CSRF-token login sequence. The identified fix: pre-authenticate the sandbox using the existing, already-proven credential/login mechanism before the model's turn budget starts.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