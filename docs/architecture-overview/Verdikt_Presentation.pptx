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400" b="1">
                <a:solidFill>
                  <a:srgbClr val="FFFFFF"/>
                </a:solidFill>
              </a:defRPr>
            </a:pPr>
            <a:r>
              <a:t>Verdikt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2900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3EEFB"/>
                </a:solidFill>
              </a:defRPr>
            </a:pPr>
            <a:r>
              <a:t>AI Multi-Agent Web Application &amp; API Security Testing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FFFFFF"/>
                </a:solidFill>
              </a:defRPr>
            </a:pPr>
            <a:r>
              <a:t>Manual-assessment-quality penetration testing, at automated speed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E21"/>
                </a:solidFill>
                <a:latin typeface="Calibri"/>
              </a:defRPr>
            </a:pPr>
            <a:r>
              <a:t>What we'll 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The problem: why manual pentesting doesn't scale, and why traditional DAST isn't trusted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Design principles: multi-agent architecture, Confirmed-Only Findings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System architecture &amp; the 24-node scanning engine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Confirmed-Only Findings pipeline — how false positives are engineered out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Pluggable AI provider layer — bring your own LLM, including in-house/internal models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Vulnerability coverage, attack chains, and reporting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VGS integration, enterprise hardening, and deployment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By the numbers, and an honest look at spec vs. reality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Testing discipline &amp; 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E21"/>
                </a:solidFill>
                <a:latin typeface="Calibri"/>
              </a:defRPr>
            </a:pPr>
            <a:r>
              <a:t>Manual pentesting doesn't scale.</a:t>
            </a:r>
            <a:br/>
            <a:r>
              <a:t>Automated scanning isn't trusted.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900" b="0">
                <a:solidFill>
                  <a:srgbClr val="1C1E21"/>
                </a:solidFill>
              </a:defRPr>
            </a:pPr>
            <a:r>
              <a:t>•  A competent manual pentester takes days per application — demand for testing far outpaces supply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900" b="0">
                <a:solidFill>
                  <a:srgbClr val="1C1E21"/>
                </a:solidFill>
              </a:defRPr>
            </a:pPr>
            <a:r>
              <a:t>•  Traditional DAST scanners scale, but are notorious for high false-positive rates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900" b="0">
                <a:solidFill>
                  <a:srgbClr val="1C1E21"/>
                </a:solidFill>
              </a:defRPr>
            </a:pPr>
            <a:r>
              <a:t>•  Shallow coverage of business logic and access-control issues — the findings that matter most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900" b="0">
                <a:solidFill>
                  <a:srgbClr val="1C1E21"/>
                </a:solidFill>
              </a:defRPr>
            </a:pPr>
            <a:r>
              <a:t>•  Reports nobody can act on without re-verifying every line by hand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206240"/>
            <a:ext cx="10881360" cy="14630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600" b="1">
                <a:solidFill>
                  <a:srgbClr val="1C1E21"/>
                </a:solidFill>
              </a:defRPr>
            </a:pPr>
            <a:r>
              <a:t>Goal: scan a mid-size app (50–150 endpoints, one auth role, one workflow) and produce a report with ZERO false positives and manual-assessment-equivalent depth, in under a day, for under $20 of LLM spend.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DESIGN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E21"/>
                </a:solidFill>
                <a:latin typeface="Calibri"/>
              </a:defRPr>
            </a:pPr>
            <a:r>
              <a:t>Three ideas the whole system follows from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611880" cy="640080"/>
          </a:xfrm>
          <a:prstGeom prst="roundRect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1. Multi-Agent, Not One Big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3611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C1E21"/>
                </a:solidFill>
              </a:defRPr>
            </a:pPr>
            <a:r>
              <a:t>24 narrow, purpose-built detection agents each own one vulnerability class, run as parallel nodes in a LangGraph DAG, and use the cheapest technique that reliably confirms that class.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737360"/>
            <a:ext cx="3611880" cy="640080"/>
          </a:xfrm>
          <a:prstGeom prst="roundRect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2. Confirmed-Only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2514600"/>
            <a:ext cx="3611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C1E21"/>
                </a:solidFill>
              </a:defRPr>
            </a:pPr>
            <a:r>
              <a:t>Nothing becomes a Finding on a hunch. Deterministic probe → LLM triage → deterministic re-execution → adversarial validation, or it becomes a human-reviewed candidate.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8" y="1737360"/>
            <a:ext cx="3611880" cy="640080"/>
          </a:xfrm>
          <a:prstGeom prst="roundRect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3. Smart Scan (partial)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8" y="2514600"/>
            <a:ext cx="3611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C1E21"/>
                </a:solidFill>
              </a:defRPr>
            </a:pPr>
            <a:r>
              <a:t>A deterministic tech-stack fingerprint is computed and shown in every report — but today it gates only one check (SSTI). Broader cost-saving routing is a known next step, not shipped.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System Architecture</a:t>
            </a:r>
          </a:p>
        </p:txBody>
      </p:sp>
      <p:pic>
        <p:nvPicPr>
          <p:cNvPr id="5" name="Picture 4" descr="01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13600565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B6270"/>
                </a:solidFill>
              </a:defRPr>
            </a:pPr>
            <a:r>
              <a:t>React/TypeScript frontend, FastAPI backend, pluggable AI/storage/KMS layers, and a wide enterprise-integration surface.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MULTI-AGENT SCANNING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24 detection agents in the scan graph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Injection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SQLi, OS command injection, SSTI, path traversal, NoSQLi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554480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XSS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Reflected, DOM-based, stored — with real browser execution proof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554480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Access &amp; Auth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Access control, auth bypass, OAuth redirect 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98648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Business Logic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IDOR, race conditions, workflow bypass, mass assignment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898648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Request Integrity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CSRF, CORS, host header, request smuggling, cache poisoning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2898648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Client &amp; Framework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Clickjacking, prototype pollution, GraphQL, WebSocket security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242816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Data Handling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XXE, insecure deserialization, file upload incl. polyglot bypass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4242816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Network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SSRF with real out-of-band callback proof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4242816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Config &amp; Disclosure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Security headers, HSTS, cookie flags, version disclosure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MULTI-AGENT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Scan Lifecycle</a:t>
            </a:r>
          </a:p>
        </p:txBody>
      </p:sp>
      <p:pic>
        <p:nvPicPr>
          <p:cNvPr id="5" name="Picture 4" descr="03_scan_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4929768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B6270"/>
                </a:solidFill>
              </a:defRPr>
            </a:pPr>
            <a:r>
              <a:t>The real, verified 24-node graph — zero conditional edges, every node always runs. chain_analysis is a 25th step that runs after the graph completes.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QUALITY BAR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Confirmed-Only Findings</a:t>
            </a:r>
          </a:p>
        </p:txBody>
      </p:sp>
      <p:pic>
        <p:nvPicPr>
          <p:cNvPr id="5" name="Picture 4" descr="04_confirmed_only_fin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19081390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B6270"/>
                </a:solidFill>
              </a:defRPr>
            </a:pPr>
            <a:r>
              <a:t>A candidate must survive deterministic re-execution and adversarial LLM validation before it becomes a Finding — or it becomes a human-reviewed candidate.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AI PROVIDER ABSTRACTION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Bring Your Own LLM</a:t>
            </a:r>
          </a:p>
        </p:txBody>
      </p:sp>
      <p:pic>
        <p:nvPicPr>
          <p:cNvPr id="5" name="Picture 4" descr="05_ai_provider_re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2848048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B6270"/>
                </a:solidFill>
              </a:defRPr>
            </a:pPr>
            <a:r>
              <a:t>Claude, OpenAI, Gemini, Grok, or any in-house OpenAI-compatible model — configured once in the UI. A $2.00/scan hard cost cap is enforced underneath.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C1E21"/>
                </a:solidFill>
                <a:latin typeface="Calibri"/>
              </a:defRPr>
            </a:pPr>
            <a:r>
              <a:t>OWASP Top 10 (2025) + PortSwigger Web Security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11535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Injection — SQL, OS command, SSTI, NoSQL, path traversal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Broken access control — IDOR, privilege escalation, missing function-level checks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Cryptographic &amp; session failures — token entropy, cookie attribute hygiene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Cross-site scripting — reflected / DOM / stored, real browser execution proof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Security misconfiguration — headers, plaintext HTTP, version disclosure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SSRF — real out-of-band callback verified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Authentication failures — auth bypass, OAuth redirect-URI validation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Software &amp; data integrity — insecure deserialization, prototype pollution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XXE, GraphQL introspection/DoS surface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File upload — dangerous extensions + image-polyglot bypass technique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CSRF, CORS, clickjacking — with real browser-confirmed framability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HTTP request smuggling &amp; cache poisoning/deception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WebSocket security, business logic (race conditions, workflow, mass assignment)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BEYOND SINGLE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Attack chains, retest &amp; rescan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700" b="0">
                <a:solidFill>
                  <a:srgbClr val="1C1E21"/>
                </a:solidFill>
              </a:defRPr>
            </a:pPr>
            <a:r>
              <a:t>•  Attack Chain Analysis</a:t>
            </a:r>
          </a:p>
          <a:p>
            <a:pPr>
              <a:lnSpc>
                <a:spcPct val="125000"/>
              </a:lnSpc>
              <a:spcAft>
                <a:spcPts val="400"/>
              </a:spcAft>
              <a:defRPr sz="1400" b="0">
                <a:solidFill>
                  <a:srgbClr val="5B6270"/>
                </a:solidFill>
              </a:defRPr>
            </a:pPr>
            <a:r>
              <a:t>‣  Runs after every other agent completes, looking for standalone findings that compose into a more severe, realistic attack path (e.g. reflected XSS + missing CSRF token → account takeover)</a:t>
            </a:r>
          </a:p>
          <a:p>
            <a:pPr>
              <a:lnSpc>
                <a:spcPct val="125000"/>
              </a:lnSpc>
              <a:spcAft>
                <a:spcPts val="400"/>
              </a:spcAft>
              <a:defRPr sz="1400" b="0">
                <a:solidFill>
                  <a:srgbClr val="5B6270"/>
                </a:solidFill>
              </a:defRPr>
            </a:pPr>
            <a:r>
              <a:t>‣  Goes through the same adversarial-validation discipline as individual findings — no rubber-stamping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700" b="0">
                <a:solidFill>
                  <a:srgbClr val="1C1E21"/>
                </a:solidFill>
              </a:defRPr>
            </a:pPr>
            <a:r>
              <a:t>•  Rescan</a:t>
            </a:r>
          </a:p>
          <a:p>
            <a:pPr>
              <a:lnSpc>
                <a:spcPct val="125000"/>
              </a:lnSpc>
              <a:spcAft>
                <a:spcPts val="400"/>
              </a:spcAft>
              <a:defRPr sz="1400" b="0">
                <a:solidFill>
                  <a:srgbClr val="5B6270"/>
                </a:solidFill>
              </a:defRPr>
            </a:pPr>
            <a:r>
              <a:t>‣  Full re-run, diffed against the prior scan: new findings, still_open, and fixed — human decisions like risk_accepted are never silently overridden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700" b="0">
                <a:solidFill>
                  <a:srgbClr val="1C1E21"/>
                </a:solidFill>
              </a:defRPr>
            </a:pPr>
            <a:r>
              <a:t>•  Retest</a:t>
            </a:r>
          </a:p>
          <a:p>
            <a:pPr>
              <a:lnSpc>
                <a:spcPct val="125000"/>
              </a:lnSpc>
              <a:spcAft>
                <a:spcPts val="400"/>
              </a:spcAft>
              <a:defRPr sz="1400" b="0">
                <a:solidFill>
                  <a:srgbClr val="5B6270"/>
                </a:solidFill>
              </a:defRPr>
            </a:pPr>
            <a:r>
              <a:t>‣  Targeted, single-finding re-verification — "we just deployed a fix, did it work" — without paying for a full scan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One dataset, every audience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HTML, PDF, DOCX, CSV, and JSON exports — all generated from the same underlying Finding records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Finding grouping — shared check types collapse into one section with full evidence for a representative sample, preventing runaway report length (one real scan: 291 findings, not 629 pages)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LLM-generated executive summary for non-technical stakeholders — generated once, cached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Org branding — logo and primary color on every generated report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A native, ported VGS report-builder workflow for teams that want manual curation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VGS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Two complementary modes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394960" cy="42062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300" b="0">
                <a:solidFill>
                  <a:srgbClr val="1C1E21"/>
                </a:solidFill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6217920" y="1600200"/>
            <a:ext cx="5394960" cy="42062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300" b="0">
                <a:solidFill>
                  <a:srgbClr val="1C1E21"/>
                </a:solidFill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6D28D9"/>
                </a:solidFill>
              </a:defRPr>
            </a:pPr>
            <a:r>
              <a:t>Decoupled Webhook Push</a:t>
            </a:r>
          </a:p>
          <a:p>
            <a:pPr>
              <a:spcAft>
                <a:spcPts val="800"/>
              </a:spcAft>
              <a:defRPr sz="1400"/>
            </a:pPr>
            <a:r>
              <a:t>•  On scan completion, Verdikt POSTs structured findings to VGS's ingestion webhook</a:t>
            </a:r>
          </a:p>
          <a:p>
            <a:pPr>
              <a:spcAft>
                <a:spcPts val="800"/>
              </a:spcAft>
              <a:defRPr sz="1400"/>
            </a:pPr>
            <a:r>
              <a:t>•  Tagged source: ai-multi-agent</a:t>
            </a:r>
          </a:p>
          <a:p>
            <a:pPr>
              <a:spcAft>
                <a:spcPts val="800"/>
              </a:spcAft>
              <a:defRPr sz="1400"/>
            </a:pPr>
            <a:r>
              <a:t>•  VGS remains the system of record for governance/remediation tracking</a:t>
            </a:r>
          </a:p>
          <a:p>
            <a:pPr>
              <a:spcAft>
                <a:spcPts val="800"/>
              </a:spcAft>
              <a:defRPr sz="1400"/>
            </a:pPr>
            <a:r>
              <a:t>•  Best-effort: one broken webhook config never fails the scan itself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78308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6D28D9"/>
                </a:solidFill>
              </a:defRPr>
            </a:pPr>
            <a:r>
              <a:t>Native Report-Builder Port</a:t>
            </a:r>
          </a:p>
          <a:p>
            <a:pPr>
              <a:spcAft>
                <a:spcPts val="800"/>
              </a:spcAft>
              <a:defRPr sz="1400"/>
            </a:pPr>
            <a:r>
              <a:t>•  VGS's own manual workflow ported natively into Verdikt as its own workspace</a:t>
            </a:r>
          </a:p>
          <a:p>
            <a:pPr>
              <a:spcAft>
                <a:spcPts val="800"/>
              </a:spcAft>
              <a:defRPr sz="1400"/>
            </a:pPr>
            <a:r>
              <a:t>•  Vulnerability Picker: real, scan-confirmed findings, grouped and auto-seeded</a:t>
            </a:r>
          </a:p>
          <a:p>
            <a:pPr>
              <a:spcAft>
                <a:spcPts val="800"/>
              </a:spcAft>
              <a:defRPr sz="1400"/>
            </a:pPr>
            <a:r>
              <a:t>•  "Load from PortSwigger" — one-click pull from Web Security Academy topic pages</a:t>
            </a:r>
          </a:p>
          <a:p>
            <a:pPr>
              <a:spcAft>
                <a:spcPts val="800"/>
              </a:spcAft>
              <a:defRPr sz="1400"/>
            </a:pPr>
            <a:r>
              <a:t>•  Evidence editor: numbered steps, screenshots addable at any time</a:t>
            </a:r>
          </a:p>
          <a:p>
            <a:pPr>
              <a:spcAft>
                <a:spcPts val="800"/>
              </a:spcAft>
              <a:defRPr sz="1400"/>
            </a:pPr>
            <a:r>
              <a:t>•  Generate Report: same DOCX shape as the original VGS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ENTERPRISE HARDENING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Built for real organizations, not just demos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RBAC — real DB-backed role_permissions table across 19 resource types; new roles are data changes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SSO — SAML and OIDC, per-org, with configurable default role assignment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Ticketing &amp; notifications — Jira, Slack, Microsoft Teams, Outlook, plus a conversational Teams bot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CMDB integration — generic, configurable REST client for any vendor's asset inventory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API keys — long-lived, revocable tokens for CI/automation clients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Audit log — every state-changing action recorded with actor, action, resource, metadata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Cost governor — a per-scan-run cap on estimated LLM spend, enforced automatically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CROSS-PLATFORM, ONE 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Deployment</a:t>
            </a:r>
          </a:p>
        </p:txBody>
      </p:sp>
      <p:pic>
        <p:nvPicPr>
          <p:cNvPr id="5" name="Picture 4" descr="06_deployment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12533854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B6270"/>
                </a:solidFill>
              </a:defRPr>
            </a:pPr>
            <a:r>
              <a:t>docker compose up — verified end-to-end on a fresh environment; migrations run automatically; works identically on macOS, Linux, and Windows.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The codebase, counted — not estimated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41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agent files</a:t>
            </a:r>
            <a:br/>
            <a:r>
              <a:t>(24 wired into the scan graph)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173736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28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API route modules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73736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~30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persisted data models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173736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9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external integrations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7472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34+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static check IDs</a:t>
            </a:r>
            <a:br/>
            <a:r>
              <a:t>across 14 YAML catalogs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347472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24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Alembic migrations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47472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19×4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RBAC resources × 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347472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527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tests across 99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i="1" sz="1200">
                <a:solidFill>
                  <a:srgbClr val="5B6270"/>
                </a:solidFill>
              </a:defRPr>
            </a:pPr>
            <a:r>
              <a:t>Verified by direct code inspection and by running the test collector — not estimated.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AN HONEST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Spec vs. reality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448056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300" b="0">
                <a:solidFill>
                  <a:srgbClr val="1C1E21"/>
                </a:solidFill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394960" cy="448056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300" b="0">
                <a:solidFill>
                  <a:srgbClr val="1C1E21"/>
                </a:solidFill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6D28D9"/>
                </a:solidFill>
              </a:defRPr>
            </a:pPr>
            <a:r>
              <a:t>Built less than originally specified</a:t>
            </a:r>
          </a:p>
          <a:p>
            <a:pPr>
              <a:spcAft>
                <a:spcPts val="700"/>
              </a:spcAft>
              <a:defRPr sz="1300"/>
            </a:pPr>
            <a:r>
              <a:t>•  Pre-scan authorization gate — built, then fully removed</a:t>
            </a:r>
          </a:p>
          <a:p>
            <a:pPr>
              <a:spcAft>
                <a:spcPts val="700"/>
              </a:spcAft>
              <a:defRPr sz="1300"/>
            </a:pPr>
            <a:r>
              <a:t>•  Human-in-the-loop approval checkpoints — not built</a:t>
            </a:r>
          </a:p>
          <a:p>
            <a:pPr>
              <a:spcAft>
                <a:spcPts val="700"/>
              </a:spcAft>
              <a:defRPr sz="1300"/>
            </a:pPr>
            <a:r>
              <a:t>•  Smart Scan graph-level routing — only one narrow case (SSTI)</a:t>
            </a:r>
          </a:p>
          <a:p>
            <a:pPr>
              <a:spcAft>
                <a:spcPts val="700"/>
              </a:spcAft>
              <a:defRPr sz="1300"/>
            </a:pPr>
            <a:r>
              <a:t>•  Per-task-type model routing — not built</a:t>
            </a:r>
          </a:p>
          <a:p>
            <a:pPr>
              <a:spcAft>
                <a:spcPts val="700"/>
              </a:spcAft>
              <a:defRPr sz="1300"/>
            </a:pPr>
            <a:r>
              <a:t>•  Depth slider (Quick/Standard/Deep) — not built</a:t>
            </a:r>
          </a:p>
          <a:p>
            <a:pPr>
              <a:spcAft>
                <a:spcPts val="700"/>
              </a:spcAft>
              <a:defRPr sz="1300"/>
            </a:pPr>
            <a:r>
              <a:t>•  Cross-credential-set result caching — not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6D28D9"/>
                </a:solidFill>
              </a:defRPr>
            </a:pPr>
            <a:r>
              <a:t>Built beyond what was specified</a:t>
            </a:r>
          </a:p>
          <a:p>
            <a:pPr>
              <a:spcAft>
                <a:spcPts val="700"/>
              </a:spcAft>
              <a:defRPr sz="1300"/>
            </a:pPr>
            <a:r>
              <a:t>•  VGS native report-builder workspace — spec asked for webhook push only</a:t>
            </a:r>
          </a:p>
          <a:p>
            <a:pPr>
              <a:spcAft>
                <a:spcPts val="700"/>
              </a:spcAft>
              <a:defRPr sz="1300"/>
            </a:pPr>
            <a:r>
              <a:t>•  Image-polyglot file-upload bypass technique</a:t>
            </a:r>
          </a:p>
          <a:p>
            <a:pPr>
              <a:spcAft>
                <a:spcPts val="700"/>
              </a:spcAft>
              <a:defRPr sz="1300"/>
            </a:pPr>
            <a:r>
              <a:t>•  "Load from PortSwigger" scraper integration</a:t>
            </a:r>
          </a:p>
          <a:p>
            <a:pPr>
              <a:spcAft>
                <a:spcPts val="700"/>
              </a:spcAft>
              <a:defRPr sz="1300"/>
            </a:pPr>
            <a:r>
              <a:t>•  UI-only, per-org default AI provider configuration</a:t>
            </a:r>
          </a:p>
          <a:p>
            <a:pPr>
              <a:spcAft>
                <a:spcPts val="700"/>
              </a:spcAft>
              <a:defRPr sz="1300"/>
            </a:pPr>
            <a:r>
              <a:t>•  A genuine conversational Microsoft Teams bot</a:t>
            </a:r>
          </a:p>
          <a:p>
            <a:pPr>
              <a:spcAft>
                <a:spcPts val="700"/>
              </a:spcAft>
              <a:defRPr sz="1300"/>
            </a:pPr>
            <a:r>
              <a:t>•  RBAC and the AI provider abstraction match spec closely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Testing discipline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527 tests across 99 files, confirmed via pytest --collect-only — real fixtures over mocks: local HTTP servers, a real headless browser, real cryptographic round-trips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Live-validated against OWASP Juice Shop and a real DVWA instance across all four security levels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DVWA "Impossible" correctly produces zero injection/XSS findings; "Medium" correctly yields confirmed SQLi and command injection through the full pipeline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Every bug fix in this system's history was root-caused against a real, running target — not inferred from a stack trace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Build out Smart Scan's graph-level routing — use the fingerprint to actually skip irrelevant node scheduling, not just display it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A depth/intensity profile (Quick / Standard / Deep) as a scan-trigger option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Per-task-type model routing, now that arbitrary per-scan provider selection already exists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A more sophisticated file-upload bypass technique, chaining into a standalone RCE proof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Configurable human-in-the-loop approval checkpoints for the most invasive check categories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3EEFB"/>
                </a:solidFill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